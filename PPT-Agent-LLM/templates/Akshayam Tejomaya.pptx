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rgbClr val="0083E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50" b="1" i="0">
                <a:solidFill>
                  <a:srgbClr val="0083E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rgbClr val="0083E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50" b="1" i="0">
                <a:solidFill>
                  <a:srgbClr val="0083E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0" y="6896100"/>
            <a:ext cx="742950" cy="74295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38575" y="6886575"/>
            <a:ext cx="742950" cy="74295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81175" y="1428750"/>
            <a:ext cx="14992350" cy="75057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81200" y="1590675"/>
            <a:ext cx="14592300" cy="71056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rgbClr val="0083E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2095500"/>
            <a:ext cx="13849350" cy="65341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rgbClr val="0083E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21175" y="0"/>
            <a:ext cx="1266825" cy="11525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90625" y="166052"/>
            <a:ext cx="685799" cy="17017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rgbClr val="0083E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25600" y="1881632"/>
            <a:ext cx="16473169" cy="47517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50" b="1" i="0">
                <a:solidFill>
                  <a:srgbClr val="0083E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jpg"/><Relationship Id="rId6" Type="http://schemas.openxmlformats.org/officeDocument/2006/relationships/image" Target="../media/image1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6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7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6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14.png"/><Relationship Id="rId4" Type="http://schemas.openxmlformats.org/officeDocument/2006/relationships/image" Target="../media/image20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21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22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mailto:bhuvana.r@akshayamcorporate.com" TargetMode="External"/><Relationship Id="rId3" Type="http://schemas.openxmlformats.org/officeDocument/2006/relationships/hyperlink" Target="mailto:Jayanth.v@akshayamcorporate.com" TargetMode="External"/><Relationship Id="rId4" Type="http://schemas.openxmlformats.org/officeDocument/2006/relationships/image" Target="../media/image23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5" y="28574"/>
            <a:ext cx="18278475" cy="10258425"/>
          </a:xfrm>
          <a:custGeom>
            <a:avLst/>
            <a:gdLst/>
            <a:ahLst/>
            <a:cxnLst/>
            <a:rect l="l" t="t" r="r" b="b"/>
            <a:pathLst>
              <a:path w="18278475" h="10258425">
                <a:moveTo>
                  <a:pt x="18278475" y="0"/>
                </a:moveTo>
                <a:lnTo>
                  <a:pt x="0" y="0"/>
                </a:lnTo>
                <a:lnTo>
                  <a:pt x="0" y="10258425"/>
                </a:lnTo>
                <a:lnTo>
                  <a:pt x="18278475" y="10258425"/>
                </a:lnTo>
                <a:lnTo>
                  <a:pt x="18278475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856460" y="8317865"/>
            <a:ext cx="2930525" cy="1547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950" spc="-900" b="1">
                <a:solidFill>
                  <a:srgbClr val="0083E6"/>
                </a:solidFill>
                <a:latin typeface="Tahoma"/>
                <a:cs typeface="Tahoma"/>
              </a:rPr>
              <a:t>2</a:t>
            </a:r>
            <a:r>
              <a:rPr dirty="0" sz="9950" spc="-830" b="1">
                <a:solidFill>
                  <a:srgbClr val="0083E6"/>
                </a:solidFill>
                <a:latin typeface="Tahoma"/>
                <a:cs typeface="Tahoma"/>
              </a:rPr>
              <a:t>0</a:t>
            </a:r>
            <a:r>
              <a:rPr dirty="0" sz="9950" spc="-900" b="1">
                <a:solidFill>
                  <a:srgbClr val="0083E6"/>
                </a:solidFill>
                <a:latin typeface="Tahoma"/>
                <a:cs typeface="Tahoma"/>
              </a:rPr>
              <a:t>2</a:t>
            </a:r>
            <a:r>
              <a:rPr dirty="0" sz="9950" spc="-20" b="1">
                <a:solidFill>
                  <a:srgbClr val="0083E6"/>
                </a:solidFill>
                <a:latin typeface="Tahoma"/>
                <a:cs typeface="Tahoma"/>
              </a:rPr>
              <a:t>5</a:t>
            </a:r>
            <a:endParaRPr sz="99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37415" y="8613669"/>
            <a:ext cx="1941830" cy="1006475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1019"/>
              </a:spcBef>
            </a:pPr>
            <a:r>
              <a:rPr dirty="0" sz="2400" spc="-155" b="1">
                <a:solidFill>
                  <a:srgbClr val="FFFFFF"/>
                </a:solidFill>
                <a:latin typeface="Tahoma"/>
                <a:cs typeface="Tahoma"/>
              </a:rPr>
              <a:t>Edition</a:t>
            </a:r>
            <a:r>
              <a:rPr dirty="0" sz="2400" spc="-30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130" b="1">
                <a:solidFill>
                  <a:srgbClr val="FFFFFF"/>
                </a:solidFill>
                <a:latin typeface="Tahoma"/>
                <a:cs typeface="Tahoma"/>
              </a:rPr>
              <a:t>No…..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2450" spc="-445" b="1">
                <a:solidFill>
                  <a:srgbClr val="FFFFFF"/>
                </a:solidFill>
                <a:latin typeface="Tahoma"/>
                <a:cs typeface="Tahoma"/>
              </a:rPr>
              <a:t>…</a:t>
            </a:r>
            <a:r>
              <a:rPr dirty="0" sz="2450" spc="-370" b="1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dirty="0" sz="2450" spc="-445" b="1">
                <a:solidFill>
                  <a:srgbClr val="FFFFFF"/>
                </a:solidFill>
                <a:latin typeface="Tahoma"/>
                <a:cs typeface="Tahoma"/>
              </a:rPr>
              <a:t>…</a:t>
            </a:r>
            <a:r>
              <a:rPr dirty="0" sz="2450" spc="114" b="1">
                <a:solidFill>
                  <a:srgbClr val="FFFFFF"/>
                </a:solidFill>
                <a:latin typeface="Tahoma"/>
                <a:cs typeface="Tahoma"/>
              </a:rPr>
              <a:t>.</a:t>
            </a:r>
            <a:r>
              <a:rPr dirty="0" sz="2450" spc="-125" b="1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dirty="0" sz="2450" spc="10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2450" spc="-3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50" spc="-320" b="1">
                <a:solidFill>
                  <a:srgbClr val="FFFFFF"/>
                </a:solidFill>
                <a:latin typeface="Tahoma"/>
                <a:cs typeface="Tahoma"/>
              </a:rPr>
              <a:t>…./….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554200" y="8534400"/>
            <a:ext cx="0" cy="1200150"/>
          </a:xfrm>
          <a:custGeom>
            <a:avLst/>
            <a:gdLst/>
            <a:ahLst/>
            <a:cxnLst/>
            <a:rect l="l" t="t" r="r" b="b"/>
            <a:pathLst>
              <a:path w="0" h="1200150">
                <a:moveTo>
                  <a:pt x="0" y="120015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62127" rIns="0" bIns="0" rtlCol="0" vert="horz">
            <a:spAutoFit/>
          </a:bodyPr>
          <a:lstStyle/>
          <a:p>
            <a:pPr marL="2023745">
              <a:lnSpc>
                <a:spcPct val="100000"/>
              </a:lnSpc>
              <a:spcBef>
                <a:spcPts val="95"/>
              </a:spcBef>
            </a:pPr>
            <a:r>
              <a:rPr dirty="0" spc="-440"/>
              <a:t>T</a:t>
            </a:r>
            <a:r>
              <a:rPr dirty="0" spc="-509"/>
              <a:t>E</a:t>
            </a:r>
            <a:r>
              <a:rPr dirty="0" spc="-465"/>
              <a:t>J</a:t>
            </a:r>
            <a:r>
              <a:rPr dirty="0" spc="-459"/>
              <a:t>O</a:t>
            </a:r>
            <a:r>
              <a:rPr dirty="0" spc="-450"/>
              <a:t>M</a:t>
            </a:r>
            <a:r>
              <a:rPr dirty="0" spc="-2090"/>
              <a:t>A</a:t>
            </a:r>
            <a:r>
              <a:rPr dirty="0" spc="-2210"/>
              <a:t>Y</a:t>
            </a:r>
            <a:r>
              <a:rPr dirty="0" spc="-95"/>
              <a:t>A</a:t>
            </a:r>
          </a:p>
        </p:txBody>
      </p:sp>
      <p:sp>
        <p:nvSpPr>
          <p:cNvPr id="7" name="object 7"/>
          <p:cNvSpPr/>
          <p:nvPr/>
        </p:nvSpPr>
        <p:spPr>
          <a:xfrm>
            <a:off x="762000" y="723899"/>
            <a:ext cx="1447800" cy="1447800"/>
          </a:xfrm>
          <a:custGeom>
            <a:avLst/>
            <a:gdLst/>
            <a:ahLst/>
            <a:cxnLst/>
            <a:rect l="l" t="t" r="r" b="b"/>
            <a:pathLst>
              <a:path w="1447800" h="1447800">
                <a:moveTo>
                  <a:pt x="1447800" y="0"/>
                </a:moveTo>
                <a:lnTo>
                  <a:pt x="0" y="0"/>
                </a:lnTo>
                <a:lnTo>
                  <a:pt x="0" y="76200"/>
                </a:lnTo>
                <a:lnTo>
                  <a:pt x="0" y="1447800"/>
                </a:lnTo>
                <a:lnTo>
                  <a:pt x="76200" y="1447800"/>
                </a:lnTo>
                <a:lnTo>
                  <a:pt x="76200" y="76200"/>
                </a:lnTo>
                <a:lnTo>
                  <a:pt x="1447800" y="76200"/>
                </a:lnTo>
                <a:lnTo>
                  <a:pt x="1447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A blue circle with white text and stars and a white circle with a blue ribbon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5" y="6896099"/>
            <a:ext cx="4448175" cy="33908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7901" y="4648263"/>
            <a:ext cx="12069445" cy="12496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095115" algn="l"/>
                <a:tab pos="7397750" algn="l"/>
                <a:tab pos="9166860" algn="l"/>
              </a:tabLst>
            </a:pPr>
            <a:r>
              <a:rPr dirty="0" spc="750">
                <a:solidFill>
                  <a:srgbClr val="FFFFFF"/>
                </a:solidFill>
              </a:rPr>
              <a:t>U</a:t>
            </a:r>
            <a:r>
              <a:rPr dirty="0" spc="765">
                <a:solidFill>
                  <a:srgbClr val="FFFFFF"/>
                </a:solidFill>
              </a:rPr>
              <a:t>pd</a:t>
            </a:r>
            <a:r>
              <a:rPr dirty="0" spc="690">
                <a:solidFill>
                  <a:srgbClr val="FFFFFF"/>
                </a:solidFill>
              </a:rPr>
              <a:t>a</a:t>
            </a:r>
            <a:r>
              <a:rPr dirty="0" spc="780">
                <a:solidFill>
                  <a:srgbClr val="FFFFFF"/>
                </a:solidFill>
              </a:rPr>
              <a:t>t</a:t>
            </a:r>
            <a:r>
              <a:rPr dirty="0" spc="770">
                <a:solidFill>
                  <a:srgbClr val="FFFFFF"/>
                </a:solidFill>
              </a:rPr>
              <a:t>e</a:t>
            </a:r>
            <a:r>
              <a:rPr dirty="0" spc="-15">
                <a:solidFill>
                  <a:srgbClr val="FFFFFF"/>
                </a:solidFill>
              </a:rPr>
              <a:t>s</a:t>
            </a:r>
            <a:r>
              <a:rPr dirty="0">
                <a:solidFill>
                  <a:srgbClr val="FFFFFF"/>
                </a:solidFill>
              </a:rPr>
              <a:t>	</a:t>
            </a:r>
            <a:r>
              <a:rPr dirty="0" spc="835">
                <a:solidFill>
                  <a:srgbClr val="FFFFFF"/>
                </a:solidFill>
              </a:rPr>
              <a:t>d</a:t>
            </a:r>
            <a:r>
              <a:rPr dirty="0" spc="765">
                <a:solidFill>
                  <a:srgbClr val="FFFFFF"/>
                </a:solidFill>
              </a:rPr>
              <a:t>u</a:t>
            </a:r>
            <a:r>
              <a:rPr dirty="0" spc="785">
                <a:solidFill>
                  <a:srgbClr val="FFFFFF"/>
                </a:solidFill>
              </a:rPr>
              <a:t>r</a:t>
            </a:r>
            <a:r>
              <a:rPr dirty="0" spc="830">
                <a:solidFill>
                  <a:srgbClr val="FFFFFF"/>
                </a:solidFill>
              </a:rPr>
              <a:t>i</a:t>
            </a:r>
            <a:r>
              <a:rPr dirty="0" spc="765">
                <a:solidFill>
                  <a:srgbClr val="FFFFFF"/>
                </a:solidFill>
              </a:rPr>
              <a:t>n</a:t>
            </a:r>
            <a:r>
              <a:rPr dirty="0" spc="-15">
                <a:solidFill>
                  <a:srgbClr val="FFFFFF"/>
                </a:solidFill>
              </a:rPr>
              <a:t>g</a:t>
            </a:r>
            <a:r>
              <a:rPr dirty="0">
                <a:solidFill>
                  <a:srgbClr val="FFFFFF"/>
                </a:solidFill>
              </a:rPr>
              <a:t>	</a:t>
            </a:r>
            <a:r>
              <a:rPr dirty="0" spc="685">
                <a:solidFill>
                  <a:srgbClr val="FFFFFF"/>
                </a:solidFill>
              </a:rPr>
              <a:t>t</a:t>
            </a:r>
            <a:r>
              <a:rPr dirty="0" spc="665">
                <a:solidFill>
                  <a:srgbClr val="FFFFFF"/>
                </a:solidFill>
              </a:rPr>
              <a:t>h</a:t>
            </a:r>
            <a:r>
              <a:rPr dirty="0" spc="-35">
                <a:solidFill>
                  <a:srgbClr val="FFFFFF"/>
                </a:solidFill>
              </a:rPr>
              <a:t>e</a:t>
            </a:r>
            <a:r>
              <a:rPr dirty="0">
                <a:solidFill>
                  <a:srgbClr val="FFFFFF"/>
                </a:solidFill>
              </a:rPr>
              <a:t>	</a:t>
            </a:r>
            <a:r>
              <a:rPr dirty="0" sz="8000"/>
              <a:t>W</a:t>
            </a:r>
            <a:r>
              <a:rPr dirty="0" sz="8000" spc="-615"/>
              <a:t> </a:t>
            </a:r>
            <a:r>
              <a:rPr dirty="0" sz="8000"/>
              <a:t>e</a:t>
            </a:r>
            <a:r>
              <a:rPr dirty="0" sz="8000" spc="-610"/>
              <a:t> </a:t>
            </a:r>
            <a:r>
              <a:rPr dirty="0" sz="8000"/>
              <a:t>e</a:t>
            </a:r>
            <a:r>
              <a:rPr dirty="0" sz="8000" spc="-680"/>
              <a:t> </a:t>
            </a:r>
            <a:r>
              <a:rPr dirty="0" sz="8000" spc="-50"/>
              <a:t>k</a:t>
            </a:r>
            <a:endParaRPr sz="8000"/>
          </a:p>
        </p:txBody>
      </p:sp>
      <p:pic>
        <p:nvPicPr>
          <p:cNvPr id="3" name="object 3" descr="A blue circle with white text and stars and a white circle with a blue ribbon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16400" y="0"/>
            <a:ext cx="1371600" cy="1323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5" y="0"/>
            <a:ext cx="18278475" cy="10287000"/>
          </a:xfrm>
          <a:custGeom>
            <a:avLst/>
            <a:gdLst/>
            <a:ahLst/>
            <a:cxnLst/>
            <a:rect l="l" t="t" r="r" b="b"/>
            <a:pathLst>
              <a:path w="18278475" h="10287000">
                <a:moveTo>
                  <a:pt x="18278475" y="0"/>
                </a:moveTo>
                <a:lnTo>
                  <a:pt x="0" y="0"/>
                </a:lnTo>
                <a:lnTo>
                  <a:pt x="0" y="10287000"/>
                </a:lnTo>
                <a:lnTo>
                  <a:pt x="18278475" y="10287000"/>
                </a:lnTo>
                <a:lnTo>
                  <a:pt x="18278475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8575" y="3324225"/>
            <a:ext cx="10639425" cy="696277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829050" y="457200"/>
            <a:ext cx="10677525" cy="1685925"/>
            <a:chOff x="3829050" y="457200"/>
            <a:chExt cx="10677525" cy="16859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29050" y="457200"/>
              <a:ext cx="8410575" cy="16859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29975" y="457200"/>
              <a:ext cx="3276600" cy="1685925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305934" y="618108"/>
            <a:ext cx="9559925" cy="94106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0" spc="560" b="0">
                <a:latin typeface="Calibri"/>
                <a:cs typeface="Calibri"/>
              </a:rPr>
              <a:t>U</a:t>
            </a:r>
            <a:r>
              <a:rPr dirty="0" sz="6000" spc="505" b="0">
                <a:latin typeface="Calibri"/>
                <a:cs typeface="Calibri"/>
              </a:rPr>
              <a:t>p</a:t>
            </a:r>
            <a:r>
              <a:rPr dirty="0" sz="6000" spc="585" b="0">
                <a:latin typeface="Calibri"/>
                <a:cs typeface="Calibri"/>
              </a:rPr>
              <a:t>d</a:t>
            </a:r>
            <a:r>
              <a:rPr dirty="0" sz="6000" spc="484" b="0">
                <a:latin typeface="Calibri"/>
                <a:cs typeface="Calibri"/>
              </a:rPr>
              <a:t>a</a:t>
            </a:r>
            <a:r>
              <a:rPr dirty="0" sz="6000" spc="605" b="0">
                <a:latin typeface="Calibri"/>
                <a:cs typeface="Calibri"/>
              </a:rPr>
              <a:t>t</a:t>
            </a:r>
            <a:r>
              <a:rPr dirty="0" sz="6000" spc="525" b="0">
                <a:latin typeface="Calibri"/>
                <a:cs typeface="Calibri"/>
              </a:rPr>
              <a:t>e</a:t>
            </a:r>
            <a:r>
              <a:rPr dirty="0" sz="6000" spc="-5" b="0">
                <a:latin typeface="Calibri"/>
                <a:cs typeface="Calibri"/>
              </a:rPr>
              <a:t>s</a:t>
            </a:r>
            <a:r>
              <a:rPr dirty="0" sz="6000" spc="500" b="0">
                <a:latin typeface="Calibri"/>
                <a:cs typeface="Calibri"/>
              </a:rPr>
              <a:t> </a:t>
            </a:r>
            <a:r>
              <a:rPr dirty="0" sz="6000" spc="650" b="0">
                <a:latin typeface="Calibri"/>
                <a:cs typeface="Calibri"/>
              </a:rPr>
              <a:t>D</a:t>
            </a:r>
            <a:r>
              <a:rPr dirty="0" sz="6000" spc="660" b="0">
                <a:latin typeface="Calibri"/>
                <a:cs typeface="Calibri"/>
              </a:rPr>
              <a:t>u</a:t>
            </a:r>
            <a:r>
              <a:rPr dirty="0" sz="6000" spc="600" b="0">
                <a:latin typeface="Calibri"/>
                <a:cs typeface="Calibri"/>
              </a:rPr>
              <a:t>r</a:t>
            </a:r>
            <a:r>
              <a:rPr dirty="0" sz="6000" spc="715" b="0">
                <a:latin typeface="Calibri"/>
                <a:cs typeface="Calibri"/>
              </a:rPr>
              <a:t>i</a:t>
            </a:r>
            <a:r>
              <a:rPr dirty="0" sz="6000" spc="585" b="0">
                <a:latin typeface="Calibri"/>
                <a:cs typeface="Calibri"/>
              </a:rPr>
              <a:t>n</a:t>
            </a:r>
            <a:r>
              <a:rPr dirty="0" sz="6000" b="0">
                <a:latin typeface="Calibri"/>
                <a:cs typeface="Calibri"/>
              </a:rPr>
              <a:t>g</a:t>
            </a:r>
            <a:r>
              <a:rPr dirty="0" sz="6000" spc="585" b="0">
                <a:latin typeface="Calibri"/>
                <a:cs typeface="Calibri"/>
              </a:rPr>
              <a:t> </a:t>
            </a:r>
            <a:r>
              <a:rPr dirty="0" sz="6000" spc="525" b="0">
                <a:latin typeface="Calibri"/>
                <a:cs typeface="Calibri"/>
              </a:rPr>
              <a:t>t</a:t>
            </a:r>
            <a:r>
              <a:rPr dirty="0" sz="6000" spc="585" b="0">
                <a:latin typeface="Calibri"/>
                <a:cs typeface="Calibri"/>
              </a:rPr>
              <a:t>h</a:t>
            </a:r>
            <a:r>
              <a:rPr dirty="0" sz="6000" spc="-5" b="0">
                <a:latin typeface="Calibri"/>
                <a:cs typeface="Calibri"/>
              </a:rPr>
              <a:t>e</a:t>
            </a:r>
            <a:r>
              <a:rPr dirty="0" sz="6000" spc="434" b="0">
                <a:latin typeface="Calibri"/>
                <a:cs typeface="Calibri"/>
              </a:rPr>
              <a:t> </a:t>
            </a:r>
            <a:r>
              <a:rPr dirty="0" sz="6000">
                <a:solidFill>
                  <a:srgbClr val="FFFFFF"/>
                </a:solidFill>
              </a:rPr>
              <a:t>W</a:t>
            </a:r>
            <a:r>
              <a:rPr dirty="0" sz="6000" spc="-500">
                <a:solidFill>
                  <a:srgbClr val="FFFFFF"/>
                </a:solidFill>
              </a:rPr>
              <a:t> </a:t>
            </a:r>
            <a:r>
              <a:rPr dirty="0" sz="6000" spc="-40">
                <a:solidFill>
                  <a:srgbClr val="FFFFFF"/>
                </a:solidFill>
              </a:rPr>
              <a:t>e</a:t>
            </a:r>
            <a:r>
              <a:rPr dirty="0" sz="6000" spc="-480">
                <a:solidFill>
                  <a:srgbClr val="FFFFFF"/>
                </a:solidFill>
              </a:rPr>
              <a:t> </a:t>
            </a:r>
            <a:r>
              <a:rPr dirty="0" sz="6000" spc="-40">
                <a:solidFill>
                  <a:srgbClr val="FFFFFF"/>
                </a:solidFill>
              </a:rPr>
              <a:t>e</a:t>
            </a:r>
            <a:r>
              <a:rPr dirty="0" sz="6000" spc="-484">
                <a:solidFill>
                  <a:srgbClr val="FFFFFF"/>
                </a:solidFill>
              </a:rPr>
              <a:t> </a:t>
            </a:r>
            <a:r>
              <a:rPr dirty="0" sz="6000" spc="-50">
                <a:solidFill>
                  <a:srgbClr val="FFFFFF"/>
                </a:solidFill>
              </a:rPr>
              <a:t>k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38800" y="3429000"/>
            <a:ext cx="7048500" cy="619125"/>
          </a:xfrm>
          <a:custGeom>
            <a:avLst/>
            <a:gdLst/>
            <a:ahLst/>
            <a:cxnLst/>
            <a:rect l="l" t="t" r="r" b="b"/>
            <a:pathLst>
              <a:path w="7048500" h="619125">
                <a:moveTo>
                  <a:pt x="6945249" y="0"/>
                </a:moveTo>
                <a:lnTo>
                  <a:pt x="103250" y="0"/>
                </a:lnTo>
                <a:lnTo>
                  <a:pt x="63119" y="8127"/>
                </a:lnTo>
                <a:lnTo>
                  <a:pt x="30225" y="30225"/>
                </a:lnTo>
                <a:lnTo>
                  <a:pt x="8127" y="63119"/>
                </a:lnTo>
                <a:lnTo>
                  <a:pt x="0" y="103250"/>
                </a:lnTo>
                <a:lnTo>
                  <a:pt x="0" y="515874"/>
                </a:lnTo>
                <a:lnTo>
                  <a:pt x="8127" y="556005"/>
                </a:lnTo>
                <a:lnTo>
                  <a:pt x="30225" y="588899"/>
                </a:lnTo>
                <a:lnTo>
                  <a:pt x="63119" y="610997"/>
                </a:lnTo>
                <a:lnTo>
                  <a:pt x="103250" y="619125"/>
                </a:lnTo>
                <a:lnTo>
                  <a:pt x="6945249" y="619125"/>
                </a:lnTo>
                <a:lnTo>
                  <a:pt x="6985381" y="610997"/>
                </a:lnTo>
                <a:lnTo>
                  <a:pt x="7018274" y="588899"/>
                </a:lnTo>
                <a:lnTo>
                  <a:pt x="7040372" y="556005"/>
                </a:lnTo>
                <a:lnTo>
                  <a:pt x="7048500" y="515874"/>
                </a:lnTo>
                <a:lnTo>
                  <a:pt x="7048500" y="103250"/>
                </a:lnTo>
                <a:lnTo>
                  <a:pt x="7040372" y="63119"/>
                </a:lnTo>
                <a:lnTo>
                  <a:pt x="7018274" y="30225"/>
                </a:lnTo>
                <a:lnTo>
                  <a:pt x="6985381" y="8127"/>
                </a:lnTo>
                <a:lnTo>
                  <a:pt x="6945249" y="0"/>
                </a:lnTo>
                <a:close/>
              </a:path>
            </a:pathLst>
          </a:custGeom>
          <a:solidFill>
            <a:srgbClr val="0056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76900" y="4333875"/>
            <a:ext cx="7048500" cy="628650"/>
          </a:xfrm>
          <a:custGeom>
            <a:avLst/>
            <a:gdLst/>
            <a:ahLst/>
            <a:cxnLst/>
            <a:rect l="l" t="t" r="r" b="b"/>
            <a:pathLst>
              <a:path w="7048500" h="628650">
                <a:moveTo>
                  <a:pt x="6943725" y="0"/>
                </a:moveTo>
                <a:lnTo>
                  <a:pt x="104775" y="0"/>
                </a:lnTo>
                <a:lnTo>
                  <a:pt x="64008" y="8254"/>
                </a:lnTo>
                <a:lnTo>
                  <a:pt x="30607" y="30607"/>
                </a:lnTo>
                <a:lnTo>
                  <a:pt x="8254" y="64008"/>
                </a:lnTo>
                <a:lnTo>
                  <a:pt x="0" y="104775"/>
                </a:lnTo>
                <a:lnTo>
                  <a:pt x="0" y="523875"/>
                </a:lnTo>
                <a:lnTo>
                  <a:pt x="8254" y="564641"/>
                </a:lnTo>
                <a:lnTo>
                  <a:pt x="30607" y="597915"/>
                </a:lnTo>
                <a:lnTo>
                  <a:pt x="64008" y="620395"/>
                </a:lnTo>
                <a:lnTo>
                  <a:pt x="104775" y="628650"/>
                </a:lnTo>
                <a:lnTo>
                  <a:pt x="6943725" y="628650"/>
                </a:lnTo>
                <a:lnTo>
                  <a:pt x="6984492" y="620395"/>
                </a:lnTo>
                <a:lnTo>
                  <a:pt x="7017766" y="597915"/>
                </a:lnTo>
                <a:lnTo>
                  <a:pt x="7040245" y="564641"/>
                </a:lnTo>
                <a:lnTo>
                  <a:pt x="7048500" y="523875"/>
                </a:lnTo>
                <a:lnTo>
                  <a:pt x="7048500" y="104775"/>
                </a:lnTo>
                <a:lnTo>
                  <a:pt x="7040245" y="64008"/>
                </a:lnTo>
                <a:lnTo>
                  <a:pt x="7017766" y="30607"/>
                </a:lnTo>
                <a:lnTo>
                  <a:pt x="6984492" y="8254"/>
                </a:lnTo>
                <a:lnTo>
                  <a:pt x="6943725" y="0"/>
                </a:lnTo>
                <a:close/>
              </a:path>
            </a:pathLst>
          </a:custGeom>
          <a:solidFill>
            <a:srgbClr val="0056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76900" y="5286375"/>
            <a:ext cx="7048500" cy="628650"/>
          </a:xfrm>
          <a:custGeom>
            <a:avLst/>
            <a:gdLst/>
            <a:ahLst/>
            <a:cxnLst/>
            <a:rect l="l" t="t" r="r" b="b"/>
            <a:pathLst>
              <a:path w="7048500" h="628650">
                <a:moveTo>
                  <a:pt x="6943725" y="0"/>
                </a:moveTo>
                <a:lnTo>
                  <a:pt x="104775" y="0"/>
                </a:lnTo>
                <a:lnTo>
                  <a:pt x="64008" y="8254"/>
                </a:lnTo>
                <a:lnTo>
                  <a:pt x="30607" y="30607"/>
                </a:lnTo>
                <a:lnTo>
                  <a:pt x="8254" y="64008"/>
                </a:lnTo>
                <a:lnTo>
                  <a:pt x="0" y="104775"/>
                </a:lnTo>
                <a:lnTo>
                  <a:pt x="0" y="523875"/>
                </a:lnTo>
                <a:lnTo>
                  <a:pt x="8254" y="564641"/>
                </a:lnTo>
                <a:lnTo>
                  <a:pt x="30607" y="597915"/>
                </a:lnTo>
                <a:lnTo>
                  <a:pt x="64008" y="620395"/>
                </a:lnTo>
                <a:lnTo>
                  <a:pt x="104775" y="628650"/>
                </a:lnTo>
                <a:lnTo>
                  <a:pt x="6943725" y="628650"/>
                </a:lnTo>
                <a:lnTo>
                  <a:pt x="6984492" y="620395"/>
                </a:lnTo>
                <a:lnTo>
                  <a:pt x="7017766" y="597915"/>
                </a:lnTo>
                <a:lnTo>
                  <a:pt x="7040245" y="564641"/>
                </a:lnTo>
                <a:lnTo>
                  <a:pt x="7048500" y="523875"/>
                </a:lnTo>
                <a:lnTo>
                  <a:pt x="7048500" y="104775"/>
                </a:lnTo>
                <a:lnTo>
                  <a:pt x="7040245" y="64008"/>
                </a:lnTo>
                <a:lnTo>
                  <a:pt x="7017766" y="30607"/>
                </a:lnTo>
                <a:lnTo>
                  <a:pt x="6984492" y="8254"/>
                </a:lnTo>
                <a:lnTo>
                  <a:pt x="6943725" y="0"/>
                </a:lnTo>
                <a:close/>
              </a:path>
            </a:pathLst>
          </a:custGeom>
          <a:solidFill>
            <a:srgbClr val="0056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676900" y="6238875"/>
            <a:ext cx="7048500" cy="628650"/>
          </a:xfrm>
          <a:custGeom>
            <a:avLst/>
            <a:gdLst/>
            <a:ahLst/>
            <a:cxnLst/>
            <a:rect l="l" t="t" r="r" b="b"/>
            <a:pathLst>
              <a:path w="7048500" h="628650">
                <a:moveTo>
                  <a:pt x="6943725" y="0"/>
                </a:moveTo>
                <a:lnTo>
                  <a:pt x="104775" y="0"/>
                </a:lnTo>
                <a:lnTo>
                  <a:pt x="64008" y="8254"/>
                </a:lnTo>
                <a:lnTo>
                  <a:pt x="30607" y="30607"/>
                </a:lnTo>
                <a:lnTo>
                  <a:pt x="8254" y="64008"/>
                </a:lnTo>
                <a:lnTo>
                  <a:pt x="0" y="104775"/>
                </a:lnTo>
                <a:lnTo>
                  <a:pt x="0" y="523875"/>
                </a:lnTo>
                <a:lnTo>
                  <a:pt x="8254" y="564641"/>
                </a:lnTo>
                <a:lnTo>
                  <a:pt x="30607" y="597915"/>
                </a:lnTo>
                <a:lnTo>
                  <a:pt x="64008" y="620395"/>
                </a:lnTo>
                <a:lnTo>
                  <a:pt x="104775" y="628650"/>
                </a:lnTo>
                <a:lnTo>
                  <a:pt x="6943725" y="628650"/>
                </a:lnTo>
                <a:lnTo>
                  <a:pt x="6984492" y="620395"/>
                </a:lnTo>
                <a:lnTo>
                  <a:pt x="7017766" y="597915"/>
                </a:lnTo>
                <a:lnTo>
                  <a:pt x="7040245" y="564641"/>
                </a:lnTo>
                <a:lnTo>
                  <a:pt x="7048500" y="523875"/>
                </a:lnTo>
                <a:lnTo>
                  <a:pt x="7048500" y="104775"/>
                </a:lnTo>
                <a:lnTo>
                  <a:pt x="7040245" y="64008"/>
                </a:lnTo>
                <a:lnTo>
                  <a:pt x="7017766" y="30607"/>
                </a:lnTo>
                <a:lnTo>
                  <a:pt x="6984492" y="8254"/>
                </a:lnTo>
                <a:lnTo>
                  <a:pt x="6943725" y="0"/>
                </a:lnTo>
                <a:close/>
              </a:path>
            </a:pathLst>
          </a:custGeom>
          <a:solidFill>
            <a:srgbClr val="0056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676900" y="7191375"/>
            <a:ext cx="7048500" cy="628650"/>
          </a:xfrm>
          <a:custGeom>
            <a:avLst/>
            <a:gdLst/>
            <a:ahLst/>
            <a:cxnLst/>
            <a:rect l="l" t="t" r="r" b="b"/>
            <a:pathLst>
              <a:path w="7048500" h="628650">
                <a:moveTo>
                  <a:pt x="6943725" y="0"/>
                </a:moveTo>
                <a:lnTo>
                  <a:pt x="104775" y="0"/>
                </a:lnTo>
                <a:lnTo>
                  <a:pt x="64008" y="8255"/>
                </a:lnTo>
                <a:lnTo>
                  <a:pt x="30607" y="30606"/>
                </a:lnTo>
                <a:lnTo>
                  <a:pt x="8254" y="64007"/>
                </a:lnTo>
                <a:lnTo>
                  <a:pt x="0" y="104775"/>
                </a:lnTo>
                <a:lnTo>
                  <a:pt x="0" y="523875"/>
                </a:lnTo>
                <a:lnTo>
                  <a:pt x="8254" y="564642"/>
                </a:lnTo>
                <a:lnTo>
                  <a:pt x="30607" y="597916"/>
                </a:lnTo>
                <a:lnTo>
                  <a:pt x="64008" y="620394"/>
                </a:lnTo>
                <a:lnTo>
                  <a:pt x="104775" y="628650"/>
                </a:lnTo>
                <a:lnTo>
                  <a:pt x="6943725" y="628650"/>
                </a:lnTo>
                <a:lnTo>
                  <a:pt x="6984492" y="620394"/>
                </a:lnTo>
                <a:lnTo>
                  <a:pt x="7017766" y="597916"/>
                </a:lnTo>
                <a:lnTo>
                  <a:pt x="7040245" y="564642"/>
                </a:lnTo>
                <a:lnTo>
                  <a:pt x="7048500" y="523875"/>
                </a:lnTo>
                <a:lnTo>
                  <a:pt x="7048500" y="104775"/>
                </a:lnTo>
                <a:lnTo>
                  <a:pt x="7040245" y="64007"/>
                </a:lnTo>
                <a:lnTo>
                  <a:pt x="7017766" y="30606"/>
                </a:lnTo>
                <a:lnTo>
                  <a:pt x="6984492" y="8255"/>
                </a:lnTo>
                <a:lnTo>
                  <a:pt x="6943725" y="0"/>
                </a:lnTo>
                <a:close/>
              </a:path>
            </a:pathLst>
          </a:custGeom>
          <a:solidFill>
            <a:srgbClr val="0056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676900" y="8143875"/>
            <a:ext cx="7048500" cy="628650"/>
          </a:xfrm>
          <a:custGeom>
            <a:avLst/>
            <a:gdLst/>
            <a:ahLst/>
            <a:cxnLst/>
            <a:rect l="l" t="t" r="r" b="b"/>
            <a:pathLst>
              <a:path w="7048500" h="628650">
                <a:moveTo>
                  <a:pt x="6943725" y="0"/>
                </a:moveTo>
                <a:lnTo>
                  <a:pt x="104775" y="0"/>
                </a:lnTo>
                <a:lnTo>
                  <a:pt x="64008" y="8255"/>
                </a:lnTo>
                <a:lnTo>
                  <a:pt x="30607" y="30606"/>
                </a:lnTo>
                <a:lnTo>
                  <a:pt x="8254" y="64007"/>
                </a:lnTo>
                <a:lnTo>
                  <a:pt x="0" y="104775"/>
                </a:lnTo>
                <a:lnTo>
                  <a:pt x="0" y="523875"/>
                </a:lnTo>
                <a:lnTo>
                  <a:pt x="8254" y="564641"/>
                </a:lnTo>
                <a:lnTo>
                  <a:pt x="30607" y="597916"/>
                </a:lnTo>
                <a:lnTo>
                  <a:pt x="64008" y="620394"/>
                </a:lnTo>
                <a:lnTo>
                  <a:pt x="104775" y="628650"/>
                </a:lnTo>
                <a:lnTo>
                  <a:pt x="6943725" y="628650"/>
                </a:lnTo>
                <a:lnTo>
                  <a:pt x="6984492" y="620394"/>
                </a:lnTo>
                <a:lnTo>
                  <a:pt x="7017766" y="597916"/>
                </a:lnTo>
                <a:lnTo>
                  <a:pt x="7040245" y="564641"/>
                </a:lnTo>
                <a:lnTo>
                  <a:pt x="7048500" y="523875"/>
                </a:lnTo>
                <a:lnTo>
                  <a:pt x="7048500" y="104775"/>
                </a:lnTo>
                <a:lnTo>
                  <a:pt x="7040245" y="64007"/>
                </a:lnTo>
                <a:lnTo>
                  <a:pt x="7017766" y="30606"/>
                </a:lnTo>
                <a:lnTo>
                  <a:pt x="6984492" y="8255"/>
                </a:lnTo>
                <a:lnTo>
                  <a:pt x="6943725" y="0"/>
                </a:lnTo>
                <a:close/>
              </a:path>
            </a:pathLst>
          </a:custGeom>
          <a:solidFill>
            <a:srgbClr val="0056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676900" y="9096375"/>
            <a:ext cx="7048500" cy="628650"/>
          </a:xfrm>
          <a:custGeom>
            <a:avLst/>
            <a:gdLst/>
            <a:ahLst/>
            <a:cxnLst/>
            <a:rect l="l" t="t" r="r" b="b"/>
            <a:pathLst>
              <a:path w="7048500" h="628650">
                <a:moveTo>
                  <a:pt x="6943725" y="0"/>
                </a:moveTo>
                <a:lnTo>
                  <a:pt x="104775" y="0"/>
                </a:lnTo>
                <a:lnTo>
                  <a:pt x="64008" y="8229"/>
                </a:lnTo>
                <a:lnTo>
                  <a:pt x="30607" y="30683"/>
                </a:lnTo>
                <a:lnTo>
                  <a:pt x="8254" y="63995"/>
                </a:lnTo>
                <a:lnTo>
                  <a:pt x="0" y="104775"/>
                </a:lnTo>
                <a:lnTo>
                  <a:pt x="0" y="523875"/>
                </a:lnTo>
                <a:lnTo>
                  <a:pt x="8254" y="564654"/>
                </a:lnTo>
                <a:lnTo>
                  <a:pt x="30607" y="597954"/>
                </a:lnTo>
                <a:lnTo>
                  <a:pt x="64008" y="620420"/>
                </a:lnTo>
                <a:lnTo>
                  <a:pt x="104775" y="628650"/>
                </a:lnTo>
                <a:lnTo>
                  <a:pt x="6943725" y="628650"/>
                </a:lnTo>
                <a:lnTo>
                  <a:pt x="6984492" y="620420"/>
                </a:lnTo>
                <a:lnTo>
                  <a:pt x="7017766" y="597954"/>
                </a:lnTo>
                <a:lnTo>
                  <a:pt x="7040245" y="564654"/>
                </a:lnTo>
                <a:lnTo>
                  <a:pt x="7048500" y="523875"/>
                </a:lnTo>
                <a:lnTo>
                  <a:pt x="7048500" y="104775"/>
                </a:lnTo>
                <a:lnTo>
                  <a:pt x="7040245" y="63995"/>
                </a:lnTo>
                <a:lnTo>
                  <a:pt x="7017766" y="30683"/>
                </a:lnTo>
                <a:lnTo>
                  <a:pt x="6984492" y="8229"/>
                </a:lnTo>
                <a:lnTo>
                  <a:pt x="6943725" y="0"/>
                </a:lnTo>
                <a:close/>
              </a:path>
            </a:pathLst>
          </a:custGeom>
          <a:solidFill>
            <a:srgbClr val="00569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/>
          <p:cNvGrpSpPr/>
          <p:nvPr/>
        </p:nvGrpSpPr>
        <p:grpSpPr>
          <a:xfrm>
            <a:off x="-7936" y="0"/>
            <a:ext cx="18308955" cy="1417955"/>
            <a:chOff x="-7936" y="0"/>
            <a:chExt cx="18308955" cy="1417955"/>
          </a:xfrm>
        </p:grpSpPr>
        <p:sp>
          <p:nvSpPr>
            <p:cNvPr id="16" name="object 16"/>
            <p:cNvSpPr/>
            <p:nvPr/>
          </p:nvSpPr>
          <p:spPr>
            <a:xfrm>
              <a:off x="0" y="1276350"/>
              <a:ext cx="4124325" cy="123825"/>
            </a:xfrm>
            <a:custGeom>
              <a:avLst/>
              <a:gdLst/>
              <a:ahLst/>
              <a:cxnLst/>
              <a:rect l="l" t="t" r="r" b="b"/>
              <a:pathLst>
                <a:path w="4124325" h="123825">
                  <a:moveTo>
                    <a:pt x="4124071" y="0"/>
                  </a:moveTo>
                  <a:lnTo>
                    <a:pt x="0" y="0"/>
                  </a:lnTo>
                  <a:lnTo>
                    <a:pt x="0" y="123825"/>
                  </a:lnTo>
                  <a:lnTo>
                    <a:pt x="4124071" y="123825"/>
                  </a:lnTo>
                  <a:lnTo>
                    <a:pt x="41240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763" y="1281049"/>
              <a:ext cx="4124325" cy="123825"/>
            </a:xfrm>
            <a:custGeom>
              <a:avLst/>
              <a:gdLst/>
              <a:ahLst/>
              <a:cxnLst/>
              <a:rect l="l" t="t" r="r" b="b"/>
              <a:pathLst>
                <a:path w="4124325" h="123825">
                  <a:moveTo>
                    <a:pt x="0" y="123825"/>
                  </a:moveTo>
                  <a:lnTo>
                    <a:pt x="4124006" y="123825"/>
                  </a:lnTo>
                  <a:lnTo>
                    <a:pt x="4124006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4411325" y="1257300"/>
              <a:ext cx="3876675" cy="123825"/>
            </a:xfrm>
            <a:custGeom>
              <a:avLst/>
              <a:gdLst/>
              <a:ahLst/>
              <a:cxnLst/>
              <a:rect l="l" t="t" r="r" b="b"/>
              <a:pathLst>
                <a:path w="3876675" h="123825">
                  <a:moveTo>
                    <a:pt x="3876294" y="0"/>
                  </a:moveTo>
                  <a:lnTo>
                    <a:pt x="0" y="0"/>
                  </a:lnTo>
                  <a:lnTo>
                    <a:pt x="0" y="123825"/>
                  </a:lnTo>
                  <a:lnTo>
                    <a:pt x="3876294" y="123825"/>
                  </a:lnTo>
                  <a:lnTo>
                    <a:pt x="38762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4416151" y="1261999"/>
              <a:ext cx="3872229" cy="123825"/>
            </a:xfrm>
            <a:custGeom>
              <a:avLst/>
              <a:gdLst/>
              <a:ahLst/>
              <a:cxnLst/>
              <a:rect l="l" t="t" r="r" b="b"/>
              <a:pathLst>
                <a:path w="3872230" h="123825">
                  <a:moveTo>
                    <a:pt x="3871848" y="0"/>
                  </a:moveTo>
                  <a:lnTo>
                    <a:pt x="0" y="0"/>
                  </a:lnTo>
                  <a:lnTo>
                    <a:pt x="0" y="123825"/>
                  </a:lnTo>
                  <a:lnTo>
                    <a:pt x="3871848" y="12382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221200" y="0"/>
              <a:ext cx="1066800" cy="1266825"/>
            </a:xfrm>
            <a:prstGeom prst="rect">
              <a:avLst/>
            </a:prstGeom>
          </p:spPr>
        </p:pic>
        <p:pic>
          <p:nvPicPr>
            <p:cNvPr id="21" name="object 21" descr="A blue circle with white text and stars and a white circle with a blue ribbon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249775" y="0"/>
              <a:ext cx="1038225" cy="131445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615815" y="2097976"/>
            <a:ext cx="8807450" cy="72967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5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dirty="0" sz="2400" spc="-1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45">
                <a:solidFill>
                  <a:srgbClr val="FFFFFF"/>
                </a:solidFill>
                <a:latin typeface="Calibri"/>
                <a:cs typeface="Calibri"/>
              </a:rPr>
              <a:t>documents</a:t>
            </a:r>
            <a:r>
              <a:rPr dirty="0" sz="24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05">
                <a:solidFill>
                  <a:srgbClr val="FFFFFF"/>
                </a:solidFill>
                <a:latin typeface="Calibri"/>
                <a:cs typeface="Calibri"/>
              </a:rPr>
              <a:t>enumerates</a:t>
            </a:r>
            <a:r>
              <a:rPr dirty="0" sz="2400" spc="-1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Calibri"/>
                <a:cs typeface="Calibri"/>
              </a:rPr>
              <a:t>various</a:t>
            </a:r>
            <a:r>
              <a:rPr dirty="0" sz="2400" spc="-1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Calibri"/>
                <a:cs typeface="Calibri"/>
              </a:rPr>
              <a:t>updates</a:t>
            </a:r>
            <a:r>
              <a:rPr dirty="0" sz="2400" spc="3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14">
                <a:solidFill>
                  <a:srgbClr val="FFFFFF"/>
                </a:solidFill>
                <a:latin typeface="Calibri"/>
                <a:cs typeface="Calibri"/>
              </a:rPr>
              <a:t>during</a:t>
            </a:r>
            <a:r>
              <a:rPr dirty="0" sz="240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Calibri"/>
                <a:cs typeface="Calibri"/>
              </a:rPr>
              <a:t>week</a:t>
            </a:r>
            <a:endParaRPr sz="2400">
              <a:latin typeface="Calibri"/>
              <a:cs typeface="Calibri"/>
            </a:endParaRPr>
          </a:p>
          <a:p>
            <a:pPr marL="565150">
              <a:lnSpc>
                <a:spcPct val="100000"/>
              </a:lnSpc>
              <a:spcBef>
                <a:spcPts val="125"/>
              </a:spcBef>
            </a:pPr>
            <a:r>
              <a:rPr dirty="0" sz="2400" spc="9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400" spc="4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29">
                <a:solidFill>
                  <a:srgbClr val="FFFFFF"/>
                </a:solidFill>
                <a:latin typeface="Calibri"/>
                <a:cs typeface="Calibri"/>
              </a:rPr>
              <a:t>…………….</a:t>
            </a:r>
            <a:r>
              <a:rPr dirty="0" sz="24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45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-1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………….provided</a:t>
            </a:r>
            <a:r>
              <a:rPr dirty="0" sz="2400" spc="-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Calibri"/>
                <a:cs typeface="Calibri"/>
              </a:rPr>
              <a:t>under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Calibri"/>
                <a:cs typeface="Calibri"/>
              </a:rPr>
              <a:t>following</a:t>
            </a:r>
            <a:r>
              <a:rPr dirty="0" sz="2400" spc="-1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20">
                <a:solidFill>
                  <a:srgbClr val="FFFFFF"/>
                </a:solidFill>
                <a:latin typeface="Calibri"/>
                <a:cs typeface="Calibri"/>
              </a:rPr>
              <a:t>heads</a:t>
            </a:r>
            <a:r>
              <a:rPr dirty="0" sz="2400" spc="-1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600"/>
              </a:spcBef>
            </a:pPr>
            <a:endParaRPr sz="2400">
              <a:latin typeface="Calibri"/>
              <a:cs typeface="Calibri"/>
            </a:endParaRPr>
          </a:p>
          <a:p>
            <a:pPr marL="1325880">
              <a:lnSpc>
                <a:spcPct val="100000"/>
              </a:lnSpc>
            </a:pPr>
            <a:r>
              <a:rPr dirty="0" sz="2100" spc="-145" b="1">
                <a:solidFill>
                  <a:srgbClr val="FFFFFF"/>
                </a:solidFill>
                <a:latin typeface="Tahoma"/>
                <a:cs typeface="Tahoma"/>
              </a:rPr>
              <a:t>Companies</a:t>
            </a:r>
            <a:r>
              <a:rPr dirty="0" sz="2100" spc="-2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85" b="1">
                <a:solidFill>
                  <a:srgbClr val="FFFFFF"/>
                </a:solidFill>
                <a:latin typeface="Tahoma"/>
                <a:cs typeface="Tahoma"/>
              </a:rPr>
              <a:t>Act,</a:t>
            </a:r>
            <a:r>
              <a:rPr dirty="0" sz="2100" spc="-114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FFFFF"/>
                </a:solidFill>
                <a:latin typeface="Tahoma"/>
                <a:cs typeface="Tahoma"/>
              </a:rPr>
              <a:t>2013.</a:t>
            </a:r>
            <a:endParaRPr sz="2100">
              <a:latin typeface="Tahoma"/>
              <a:cs typeface="Tahoma"/>
            </a:endParaRPr>
          </a:p>
          <a:p>
            <a:pPr marL="1363980" marR="3132455">
              <a:lnSpc>
                <a:spcPts val="7509"/>
              </a:lnSpc>
              <a:spcBef>
                <a:spcPts val="400"/>
              </a:spcBef>
            </a:pPr>
            <a:r>
              <a:rPr dirty="0" sz="2100" spc="-140" b="1">
                <a:solidFill>
                  <a:srgbClr val="FFFFFF"/>
                </a:solidFill>
                <a:latin typeface="Tahoma"/>
                <a:cs typeface="Tahoma"/>
              </a:rPr>
              <a:t>Securities</a:t>
            </a:r>
            <a:r>
              <a:rPr dirty="0" sz="2100" spc="-1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60" b="1">
                <a:solidFill>
                  <a:srgbClr val="FFFFFF"/>
                </a:solidFill>
                <a:latin typeface="Tahoma"/>
                <a:cs typeface="Tahoma"/>
              </a:rPr>
              <a:t>Exchanges</a:t>
            </a:r>
            <a:r>
              <a:rPr dirty="0" sz="2100" spc="-254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30" b="1">
                <a:solidFill>
                  <a:srgbClr val="FFFFFF"/>
                </a:solidFill>
                <a:latin typeface="Tahoma"/>
                <a:cs typeface="Tahoma"/>
              </a:rPr>
              <a:t>Board</a:t>
            </a:r>
            <a:r>
              <a:rPr dirty="0" sz="2100" spc="-1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50" b="1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dirty="0" sz="2100" spc="-19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75" b="1">
                <a:solidFill>
                  <a:srgbClr val="FFFFFF"/>
                </a:solidFill>
                <a:latin typeface="Tahoma"/>
                <a:cs typeface="Tahoma"/>
              </a:rPr>
              <a:t>India</a:t>
            </a:r>
            <a:r>
              <a:rPr dirty="0" sz="2100" spc="-75">
                <a:solidFill>
                  <a:srgbClr val="FFFFFF"/>
                </a:solidFill>
                <a:latin typeface="Franklin Gothic Medium"/>
                <a:cs typeface="Franklin Gothic Medium"/>
              </a:rPr>
              <a:t>. </a:t>
            </a:r>
            <a:r>
              <a:rPr dirty="0" sz="2100" spc="-150" b="1">
                <a:solidFill>
                  <a:srgbClr val="FFFFFF"/>
                </a:solidFill>
                <a:latin typeface="Tahoma"/>
                <a:cs typeface="Tahoma"/>
              </a:rPr>
              <a:t>Reserve</a:t>
            </a:r>
            <a:r>
              <a:rPr dirty="0" sz="2100" spc="-1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30" b="1">
                <a:solidFill>
                  <a:srgbClr val="FFFFFF"/>
                </a:solidFill>
                <a:latin typeface="Tahoma"/>
                <a:cs typeface="Tahoma"/>
              </a:rPr>
              <a:t>Bank</a:t>
            </a:r>
            <a:r>
              <a:rPr dirty="0" sz="2100" spc="-229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dirty="0" sz="2100" spc="-1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FFFFF"/>
                </a:solidFill>
                <a:latin typeface="Tahoma"/>
                <a:cs typeface="Tahoma"/>
              </a:rPr>
              <a:t>India.</a:t>
            </a:r>
            <a:endParaRPr sz="2100">
              <a:latin typeface="Tahoma"/>
              <a:cs typeface="Tahoma"/>
            </a:endParaRPr>
          </a:p>
          <a:p>
            <a:pPr marL="1363980" marR="1936114">
              <a:lnSpc>
                <a:spcPct val="241299"/>
              </a:lnSpc>
              <a:spcBef>
                <a:spcPts val="720"/>
              </a:spcBef>
            </a:pPr>
            <a:r>
              <a:rPr dirty="0" sz="2100" spc="-180" b="1">
                <a:solidFill>
                  <a:srgbClr val="FFFFFF"/>
                </a:solidFill>
                <a:latin typeface="Tahoma"/>
                <a:cs typeface="Tahoma"/>
              </a:rPr>
              <a:t>International</a:t>
            </a:r>
            <a:r>
              <a:rPr dirty="0" sz="2100" spc="-2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40" b="1">
                <a:solidFill>
                  <a:srgbClr val="FFFFFF"/>
                </a:solidFill>
                <a:latin typeface="Tahoma"/>
                <a:cs typeface="Tahoma"/>
              </a:rPr>
              <a:t>Financial</a:t>
            </a:r>
            <a:r>
              <a:rPr dirty="0" sz="2100" spc="-1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35" b="1">
                <a:solidFill>
                  <a:srgbClr val="FFFFFF"/>
                </a:solidFill>
                <a:latin typeface="Tahoma"/>
                <a:cs typeface="Tahoma"/>
              </a:rPr>
              <a:t>Services </a:t>
            </a:r>
            <a:r>
              <a:rPr dirty="0" sz="2100" spc="-120" b="1">
                <a:solidFill>
                  <a:srgbClr val="FFFFFF"/>
                </a:solidFill>
                <a:latin typeface="Tahoma"/>
                <a:cs typeface="Tahoma"/>
              </a:rPr>
              <a:t>Centre </a:t>
            </a:r>
            <a:r>
              <a:rPr dirty="0" sz="2100" spc="-10" b="1">
                <a:solidFill>
                  <a:srgbClr val="FFFFFF"/>
                </a:solidFill>
                <a:latin typeface="Tahoma"/>
                <a:cs typeface="Tahoma"/>
              </a:rPr>
              <a:t>(IFSC). </a:t>
            </a:r>
            <a:r>
              <a:rPr dirty="0" sz="2100" spc="-165" b="1">
                <a:solidFill>
                  <a:srgbClr val="FFFFFF"/>
                </a:solidFill>
                <a:latin typeface="Tahoma"/>
                <a:cs typeface="Tahoma"/>
              </a:rPr>
              <a:t>Insolvency</a:t>
            </a:r>
            <a:r>
              <a:rPr dirty="0" sz="2100" spc="-18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40" b="1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2100" spc="-1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55" b="1">
                <a:solidFill>
                  <a:srgbClr val="FFFFFF"/>
                </a:solidFill>
                <a:latin typeface="Tahoma"/>
                <a:cs typeface="Tahoma"/>
              </a:rPr>
              <a:t>Bankruptcy</a:t>
            </a:r>
            <a:r>
              <a:rPr dirty="0" sz="2100" spc="-1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30" b="1">
                <a:solidFill>
                  <a:srgbClr val="FFFFFF"/>
                </a:solidFill>
                <a:latin typeface="Tahoma"/>
                <a:cs typeface="Tahoma"/>
              </a:rPr>
              <a:t>Code,</a:t>
            </a:r>
            <a:r>
              <a:rPr dirty="0" sz="210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FFFFFF"/>
                </a:solidFill>
                <a:latin typeface="Tahoma"/>
                <a:cs typeface="Tahoma"/>
              </a:rPr>
              <a:t>2016</a:t>
            </a:r>
            <a:endParaRPr sz="2100">
              <a:latin typeface="Tahoma"/>
              <a:cs typeface="Tahoma"/>
            </a:endParaRPr>
          </a:p>
          <a:p>
            <a:pPr marL="1363980" marR="3863340">
              <a:lnSpc>
                <a:spcPct val="297900"/>
              </a:lnSpc>
            </a:pPr>
            <a:r>
              <a:rPr dirty="0" sz="2100" spc="-130" b="1">
                <a:solidFill>
                  <a:srgbClr val="FFFFFF"/>
                </a:solidFill>
                <a:latin typeface="Tahoma"/>
                <a:cs typeface="Tahoma"/>
              </a:rPr>
              <a:t>Alternative</a:t>
            </a:r>
            <a:r>
              <a:rPr dirty="0" sz="2100" spc="-1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80" b="1">
                <a:solidFill>
                  <a:srgbClr val="FFFFFF"/>
                </a:solidFill>
                <a:latin typeface="Tahoma"/>
                <a:cs typeface="Tahoma"/>
              </a:rPr>
              <a:t>Investment</a:t>
            </a:r>
            <a:r>
              <a:rPr dirty="0" sz="2100" spc="-1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FFFFF"/>
                </a:solidFill>
                <a:latin typeface="Tahoma"/>
                <a:cs typeface="Tahoma"/>
              </a:rPr>
              <a:t>Funds Miscellaneous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9049"/>
            <a:ext cx="18288000" cy="10267950"/>
          </a:xfrm>
          <a:custGeom>
            <a:avLst/>
            <a:gdLst/>
            <a:ahLst/>
            <a:cxnLst/>
            <a:rect l="l" t="t" r="r" b="b"/>
            <a:pathLst>
              <a:path w="18288000" h="10267950">
                <a:moveTo>
                  <a:pt x="18288000" y="0"/>
                </a:moveTo>
                <a:lnTo>
                  <a:pt x="0" y="0"/>
                </a:lnTo>
                <a:lnTo>
                  <a:pt x="0" y="10267950"/>
                </a:lnTo>
                <a:lnTo>
                  <a:pt x="18288000" y="1026795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60704" rIns="0" bIns="0" rtlCol="0" vert="horz">
            <a:spAutoFit/>
          </a:bodyPr>
          <a:lstStyle/>
          <a:p>
            <a:pPr marL="208279">
              <a:lnSpc>
                <a:spcPct val="100000"/>
              </a:lnSpc>
              <a:spcBef>
                <a:spcPts val="105"/>
              </a:spcBef>
            </a:pPr>
            <a:r>
              <a:rPr dirty="0" spc="-50"/>
              <a:t>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40964" y="783118"/>
            <a:ext cx="7310120" cy="1227455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marL="43180">
              <a:lnSpc>
                <a:spcPct val="100000"/>
              </a:lnSpc>
              <a:spcBef>
                <a:spcPts val="969"/>
              </a:spcBef>
              <a:tabLst>
                <a:tab pos="2603500" algn="l"/>
                <a:tab pos="3458210" algn="l"/>
              </a:tabLst>
            </a:pPr>
            <a:r>
              <a:rPr dirty="0" sz="3350" spc="190" b="1">
                <a:solidFill>
                  <a:srgbClr val="0083E6"/>
                </a:solidFill>
                <a:latin typeface="Calibri"/>
                <a:cs typeface="Calibri"/>
              </a:rPr>
              <a:t>Co</a:t>
            </a:r>
            <a:r>
              <a:rPr dirty="0" sz="3350" spc="-32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200" b="1">
                <a:solidFill>
                  <a:srgbClr val="0083E6"/>
                </a:solidFill>
                <a:latin typeface="Calibri"/>
                <a:cs typeface="Calibri"/>
              </a:rPr>
              <a:t>mp</a:t>
            </a:r>
            <a:r>
              <a:rPr dirty="0" sz="3350" spc="-32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a</a:t>
            </a:r>
            <a:r>
              <a:rPr dirty="0" sz="3350" spc="-32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n</a:t>
            </a:r>
            <a:r>
              <a:rPr dirty="0" sz="3350" spc="-32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i</a:t>
            </a:r>
            <a:r>
              <a:rPr dirty="0" sz="3350" spc="-31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175" b="1">
                <a:solidFill>
                  <a:srgbClr val="0083E6"/>
                </a:solidFill>
                <a:latin typeface="Calibri"/>
                <a:cs typeface="Calibri"/>
              </a:rPr>
              <a:t>es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A</a:t>
            </a:r>
            <a:r>
              <a:rPr dirty="0" sz="3350" spc="-31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165" b="1">
                <a:solidFill>
                  <a:srgbClr val="0083E6"/>
                </a:solidFill>
                <a:latin typeface="Calibri"/>
                <a:cs typeface="Calibri"/>
              </a:rPr>
              <a:t>ct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</a:t>
            </a:r>
            <a:r>
              <a:rPr dirty="0" sz="3350" spc="95" b="1">
                <a:solidFill>
                  <a:srgbClr val="0083E6"/>
                </a:solidFill>
                <a:latin typeface="Calibri"/>
                <a:cs typeface="Calibri"/>
              </a:rPr>
              <a:t>2013</a:t>
            </a:r>
            <a:r>
              <a:rPr dirty="0" sz="3350" spc="21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-</a:t>
            </a:r>
            <a:r>
              <a:rPr dirty="0" sz="3350" spc="35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170" b="1">
                <a:solidFill>
                  <a:srgbClr val="0083E6"/>
                </a:solidFill>
                <a:latin typeface="Calibri"/>
                <a:cs typeface="Calibri"/>
              </a:rPr>
              <a:t>MC</a:t>
            </a:r>
            <a:r>
              <a:rPr dirty="0" sz="3350" spc="-29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-50" b="1">
                <a:solidFill>
                  <a:srgbClr val="0083E6"/>
                </a:solidFill>
                <a:latin typeface="Calibri"/>
                <a:cs typeface="Calibri"/>
              </a:rPr>
              <a:t>A</a:t>
            </a:r>
            <a:endParaRPr sz="3350">
              <a:latin typeface="Calibri"/>
              <a:cs typeface="Calibri"/>
            </a:endParaRPr>
          </a:p>
          <a:p>
            <a:pPr marL="66675" marR="5080" indent="-53975">
              <a:lnSpc>
                <a:spcPts val="1950"/>
              </a:lnSpc>
              <a:spcBef>
                <a:spcPts val="695"/>
              </a:spcBef>
            </a:pPr>
            <a:r>
              <a:rPr dirty="0" sz="1800" spc="100">
                <a:solidFill>
                  <a:srgbClr val="FFFFFF"/>
                </a:solidFill>
                <a:latin typeface="Calibri"/>
                <a:cs typeface="Calibri"/>
              </a:rPr>
              <a:t>Notifications</a:t>
            </a:r>
            <a:r>
              <a:rPr dirty="0" sz="180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– 0;</a:t>
            </a:r>
            <a:r>
              <a:rPr dirty="0" sz="18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125">
                <a:solidFill>
                  <a:srgbClr val="FFFFFF"/>
                </a:solidFill>
                <a:latin typeface="Calibri"/>
                <a:cs typeface="Calibri"/>
              </a:rPr>
              <a:t>Rules</a:t>
            </a:r>
            <a:r>
              <a:rPr dirty="0" sz="1800" spc="1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00" spc="1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110">
                <a:solidFill>
                  <a:srgbClr val="FFFFFF"/>
                </a:solidFill>
                <a:latin typeface="Calibri"/>
                <a:cs typeface="Calibri"/>
              </a:rPr>
              <a:t>Circulars</a:t>
            </a:r>
            <a:r>
              <a:rPr dirty="0" sz="1800" spc="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00" spc="1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125">
                <a:solidFill>
                  <a:srgbClr val="FFFFFF"/>
                </a:solidFill>
                <a:latin typeface="Calibri"/>
                <a:cs typeface="Calibri"/>
              </a:rPr>
              <a:t>Orders</a:t>
            </a:r>
            <a:r>
              <a:rPr dirty="0" sz="180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00" spc="1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125">
                <a:solidFill>
                  <a:srgbClr val="FFFFFF"/>
                </a:solidFill>
                <a:latin typeface="Calibri"/>
                <a:cs typeface="Calibri"/>
              </a:rPr>
              <a:t>Press</a:t>
            </a:r>
            <a:r>
              <a:rPr dirty="0" sz="1800" spc="1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FFFFFF"/>
                </a:solidFill>
                <a:latin typeface="Calibri"/>
                <a:cs typeface="Calibri"/>
              </a:rPr>
              <a:t>Release</a:t>
            </a:r>
            <a:r>
              <a:rPr dirty="0" sz="1800" spc="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8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0; </a:t>
            </a:r>
            <a:r>
              <a:rPr dirty="0" sz="1800" spc="145">
                <a:solidFill>
                  <a:srgbClr val="FFFFFF"/>
                </a:solidFill>
                <a:latin typeface="Calibri"/>
                <a:cs typeface="Calibri"/>
              </a:rPr>
              <a:t>Public</a:t>
            </a:r>
            <a:r>
              <a:rPr dirty="0" sz="1800" spc="1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FFFFFF"/>
                </a:solidFill>
                <a:latin typeface="Calibri"/>
                <a:cs typeface="Calibri"/>
              </a:rPr>
              <a:t>Notice-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625" y="619125"/>
            <a:ext cx="1514475" cy="1514475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64869" y="8266938"/>
          <a:ext cx="16064230" cy="1249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75330"/>
              </a:tblGrid>
              <a:tr h="50292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2700" spc="-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News</a:t>
                      </a:r>
                      <a:r>
                        <a:rPr dirty="0" sz="2700" spc="-2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on</a:t>
                      </a:r>
                      <a:r>
                        <a:rPr dirty="0" sz="27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MCA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 marL="31750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dirty="0" sz="3200" spc="-25" b="1">
                          <a:latin typeface="Calibri"/>
                          <a:cs typeface="Calibri"/>
                        </a:rPr>
                        <a:t>NIL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80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</a:tbl>
          </a:graphicData>
        </a:graphic>
      </p:graphicFrame>
      <p:pic>
        <p:nvPicPr>
          <p:cNvPr id="7" name="object 7" descr="A blue circle with white text and stars and a white circle with a blue ribbon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40200" y="0"/>
            <a:ext cx="1447800" cy="1447800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285113" y="2345435"/>
          <a:ext cx="16146780" cy="2474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4260"/>
                <a:gridCol w="1637664"/>
                <a:gridCol w="2924810"/>
                <a:gridCol w="4048760"/>
                <a:gridCol w="6382385"/>
              </a:tblGrid>
              <a:tr h="1335405"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700" spc="-1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S.</a:t>
                      </a:r>
                      <a:r>
                        <a:rPr dirty="0" sz="2700" spc="-2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3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marL="410209" marR="194945" indent="-188595">
                        <a:lnSpc>
                          <a:spcPts val="3300"/>
                        </a:lnSpc>
                        <a:spcBef>
                          <a:spcPts val="95"/>
                        </a:spcBef>
                      </a:pP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Date</a:t>
                      </a:r>
                      <a:r>
                        <a:rPr dirty="0" sz="2700" spc="-18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of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Issue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700" spc="-1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Rules</a:t>
                      </a:r>
                      <a:r>
                        <a:rPr dirty="0" sz="2700" spc="-2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2700" spc="-31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circulars</a:t>
                      </a:r>
                      <a:endParaRPr sz="2700">
                        <a:latin typeface="Tahoma"/>
                        <a:cs typeface="Tahoma"/>
                      </a:endParaRPr>
                    </a:p>
                    <a:p>
                      <a:pPr marL="991235" marR="153035" indent="-800100">
                        <a:lnSpc>
                          <a:spcPts val="3229"/>
                        </a:lnSpc>
                        <a:spcBef>
                          <a:spcPts val="259"/>
                        </a:spcBef>
                      </a:pP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2700" spc="-2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Notifications</a:t>
                      </a:r>
                      <a:r>
                        <a:rPr dirty="0" sz="2700" spc="-1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 </a:t>
                      </a:r>
                      <a:r>
                        <a:rPr dirty="0" sz="27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Order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700" spc="-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Contents</a:t>
                      </a:r>
                      <a:r>
                        <a:rPr dirty="0" sz="2700" spc="-13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thereof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700" spc="-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Gist</a:t>
                      </a:r>
                      <a:r>
                        <a:rPr dirty="0" sz="2700" spc="-1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thereof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</a:tr>
              <a:tr h="1139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9049"/>
            <a:ext cx="18288000" cy="10267950"/>
          </a:xfrm>
          <a:custGeom>
            <a:avLst/>
            <a:gdLst/>
            <a:ahLst/>
            <a:cxnLst/>
            <a:rect l="l" t="t" r="r" b="b"/>
            <a:pathLst>
              <a:path w="18288000" h="10267950">
                <a:moveTo>
                  <a:pt x="18288000" y="0"/>
                </a:moveTo>
                <a:lnTo>
                  <a:pt x="0" y="0"/>
                </a:lnTo>
                <a:lnTo>
                  <a:pt x="0" y="10267950"/>
                </a:lnTo>
                <a:lnTo>
                  <a:pt x="18288000" y="1026795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2036" rIns="0" bIns="0" rtlCol="0" vert="horz">
            <a:spAutoFit/>
          </a:bodyPr>
          <a:lstStyle/>
          <a:p>
            <a:pPr marL="159385">
              <a:lnSpc>
                <a:spcPct val="100000"/>
              </a:lnSpc>
              <a:spcBef>
                <a:spcPts val="105"/>
              </a:spcBef>
            </a:pPr>
            <a:r>
              <a:rPr dirty="0" spc="-50"/>
              <a:t>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93975" y="520673"/>
            <a:ext cx="6619240" cy="1495425"/>
          </a:xfrm>
          <a:prstGeom prst="rect">
            <a:avLst/>
          </a:prstGeom>
        </p:spPr>
        <p:txBody>
          <a:bodyPr wrap="square" lIns="0" tIns="274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65"/>
              </a:spcBef>
              <a:tabLst>
                <a:tab pos="1120140" algn="l"/>
                <a:tab pos="2673350" algn="l"/>
                <a:tab pos="3519170" algn="l"/>
              </a:tabLst>
            </a:pP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S</a:t>
            </a:r>
            <a:r>
              <a:rPr dirty="0" sz="3350" spc="-33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E</a:t>
            </a:r>
            <a:r>
              <a:rPr dirty="0" sz="3350" spc="-229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B</a:t>
            </a:r>
            <a:r>
              <a:rPr dirty="0" sz="3350" spc="-32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-50" b="1">
                <a:solidFill>
                  <a:srgbClr val="0083E6"/>
                </a:solidFill>
                <a:latin typeface="Calibri"/>
                <a:cs typeface="Calibri"/>
              </a:rPr>
              <a:t>I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</a:t>
            </a:r>
            <a:r>
              <a:rPr dirty="0" sz="3350" spc="175" b="1">
                <a:solidFill>
                  <a:srgbClr val="0083E6"/>
                </a:solidFill>
                <a:latin typeface="Calibri"/>
                <a:cs typeface="Calibri"/>
              </a:rPr>
              <a:t>du</a:t>
            </a:r>
            <a:r>
              <a:rPr dirty="0" sz="3350" spc="-32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r</a:t>
            </a:r>
            <a:r>
              <a:rPr dirty="0" sz="3350" spc="-38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180" b="1">
                <a:solidFill>
                  <a:srgbClr val="0083E6"/>
                </a:solidFill>
                <a:latin typeface="Calibri"/>
                <a:cs typeface="Calibri"/>
              </a:rPr>
              <a:t>in</a:t>
            </a:r>
            <a:r>
              <a:rPr dirty="0" sz="3350" spc="-31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-50" b="1">
                <a:solidFill>
                  <a:srgbClr val="0083E6"/>
                </a:solidFill>
                <a:latin typeface="Calibri"/>
                <a:cs typeface="Calibri"/>
              </a:rPr>
              <a:t>g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</a:t>
            </a:r>
            <a:r>
              <a:rPr dirty="0" sz="3350" spc="225" b="1">
                <a:solidFill>
                  <a:srgbClr val="0083E6"/>
                </a:solidFill>
                <a:latin typeface="Calibri"/>
                <a:cs typeface="Calibri"/>
              </a:rPr>
              <a:t>the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w</a:t>
            </a:r>
            <a:r>
              <a:rPr dirty="0" sz="3350" spc="-28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195" b="1">
                <a:solidFill>
                  <a:srgbClr val="0083E6"/>
                </a:solidFill>
                <a:latin typeface="Calibri"/>
                <a:cs typeface="Calibri"/>
              </a:rPr>
              <a:t>ee</a:t>
            </a:r>
            <a:r>
              <a:rPr dirty="0" sz="3350" spc="-28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-50" b="1">
                <a:solidFill>
                  <a:srgbClr val="0083E6"/>
                </a:solidFill>
                <a:latin typeface="Calibri"/>
                <a:cs typeface="Calibri"/>
              </a:rPr>
              <a:t>k</a:t>
            </a:r>
            <a:endParaRPr sz="3350">
              <a:latin typeface="Calibri"/>
              <a:cs typeface="Calibri"/>
            </a:endParaRPr>
          </a:p>
          <a:p>
            <a:pPr marL="25400" marR="5080">
              <a:lnSpc>
                <a:spcPts val="2100"/>
              </a:lnSpc>
              <a:spcBef>
                <a:spcPts val="1330"/>
              </a:spcBef>
            </a:pPr>
            <a:r>
              <a:rPr dirty="0" sz="1850" spc="125">
                <a:solidFill>
                  <a:srgbClr val="FFFFFF"/>
                </a:solidFill>
                <a:latin typeface="Calibri"/>
                <a:cs typeface="Calibri"/>
              </a:rPr>
              <a:t>Circulars</a:t>
            </a:r>
            <a:r>
              <a:rPr dirty="0" sz="185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8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55">
                <a:solidFill>
                  <a:srgbClr val="FFFFFF"/>
                </a:solidFill>
                <a:latin typeface="Calibri"/>
                <a:cs typeface="Calibri"/>
              </a:rPr>
              <a:t>0; </a:t>
            </a:r>
            <a:r>
              <a:rPr dirty="0" sz="1850" spc="130">
                <a:solidFill>
                  <a:srgbClr val="FFFFFF"/>
                </a:solidFill>
                <a:latin typeface="Calibri"/>
                <a:cs typeface="Calibri"/>
              </a:rPr>
              <a:t>Consultation</a:t>
            </a:r>
            <a:r>
              <a:rPr dirty="0" sz="1850" spc="25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45">
                <a:solidFill>
                  <a:srgbClr val="FFFFFF"/>
                </a:solidFill>
                <a:latin typeface="Calibri"/>
                <a:cs typeface="Calibri"/>
              </a:rPr>
              <a:t>Paper</a:t>
            </a:r>
            <a:r>
              <a:rPr dirty="0" sz="1850" spc="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50" spc="1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55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00">
                <a:solidFill>
                  <a:srgbClr val="FFFFFF"/>
                </a:solidFill>
                <a:latin typeface="Calibri"/>
                <a:cs typeface="Calibri"/>
              </a:rPr>
              <a:t>Reg</a:t>
            </a:r>
            <a:r>
              <a:rPr dirty="0" sz="1850" spc="-1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40">
                <a:solidFill>
                  <a:srgbClr val="FFFFFF"/>
                </a:solidFill>
                <a:latin typeface="Calibri"/>
                <a:cs typeface="Calibri"/>
              </a:rPr>
              <a:t>ulation</a:t>
            </a:r>
            <a:r>
              <a:rPr dirty="0" sz="1850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50" spc="1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55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75">
                <a:solidFill>
                  <a:srgbClr val="FFFFFF"/>
                </a:solidFill>
                <a:latin typeface="Calibri"/>
                <a:cs typeface="Calibri"/>
              </a:rPr>
              <a:t>Master </a:t>
            </a:r>
            <a:r>
              <a:rPr dirty="0" sz="1850" spc="120">
                <a:solidFill>
                  <a:srgbClr val="FFFFFF"/>
                </a:solidFill>
                <a:latin typeface="Calibri"/>
                <a:cs typeface="Calibri"/>
              </a:rPr>
              <a:t>Circular</a:t>
            </a:r>
            <a:r>
              <a:rPr dirty="0" sz="1850" spc="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50" spc="1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55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35">
                <a:solidFill>
                  <a:srgbClr val="FFFFFF"/>
                </a:solidFill>
                <a:latin typeface="Calibri"/>
                <a:cs typeface="Calibri"/>
              </a:rPr>
              <a:t>Press</a:t>
            </a:r>
            <a:r>
              <a:rPr dirty="0" sz="1850" spc="1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30">
                <a:solidFill>
                  <a:srgbClr val="FFFFFF"/>
                </a:solidFill>
                <a:latin typeface="Calibri"/>
                <a:cs typeface="Calibri"/>
              </a:rPr>
              <a:t>Release</a:t>
            </a:r>
            <a:r>
              <a:rPr dirty="0" sz="1850" spc="1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50" spc="1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25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625" y="619125"/>
            <a:ext cx="1514475" cy="1514475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3377" y="2503297"/>
          <a:ext cx="16137255" cy="3143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1720"/>
                <a:gridCol w="1633220"/>
                <a:gridCol w="2685415"/>
                <a:gridCol w="4194175"/>
                <a:gridCol w="6473825"/>
              </a:tblGrid>
              <a:tr h="173736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700" spc="-1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S.</a:t>
                      </a:r>
                      <a:r>
                        <a:rPr dirty="0" sz="2700" spc="-2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3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318770">
                        <a:lnSpc>
                          <a:spcPts val="3300"/>
                        </a:lnSpc>
                        <a:spcBef>
                          <a:spcPts val="100"/>
                        </a:spcBef>
                      </a:pP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Date</a:t>
                      </a:r>
                      <a:r>
                        <a:rPr dirty="0" sz="2700" spc="-18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of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Issue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27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259079">
                        <a:lnSpc>
                          <a:spcPct val="99700"/>
                        </a:lnSpc>
                        <a:spcBef>
                          <a:spcPts val="320"/>
                        </a:spcBef>
                      </a:pPr>
                      <a:r>
                        <a:rPr dirty="0" sz="2700" spc="-1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Rules</a:t>
                      </a:r>
                      <a:r>
                        <a:rPr dirty="0" sz="2700" spc="-18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 </a:t>
                      </a:r>
                      <a:r>
                        <a:rPr dirty="0" sz="2700" spc="-5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circulars</a:t>
                      </a:r>
                      <a:r>
                        <a:rPr dirty="0" sz="2700" spc="-13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 </a:t>
                      </a:r>
                      <a:r>
                        <a:rPr dirty="0" sz="2700" spc="-1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Notifications</a:t>
                      </a:r>
                      <a:r>
                        <a:rPr dirty="0" sz="27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Order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700" spc="-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Contents</a:t>
                      </a:r>
                      <a:r>
                        <a:rPr dirty="0" sz="2700" spc="-13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thereof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700" spc="-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Gist</a:t>
                      </a:r>
                      <a:r>
                        <a:rPr dirty="0" sz="2700" spc="-1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thereof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</a:tr>
              <a:tr h="1406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</a:tbl>
          </a:graphicData>
        </a:graphic>
      </p:graphicFrame>
      <p:pic>
        <p:nvPicPr>
          <p:cNvPr id="7" name="object 7" descr="A blue circle with white text and stars and a white circle with a blue ribbon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49725" y="0"/>
            <a:ext cx="1438275" cy="1390650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336421" y="8650858"/>
          <a:ext cx="16466185" cy="1250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77285"/>
              </a:tblGrid>
              <a:tr h="502920">
                <a:tc>
                  <a:txBody>
                    <a:bodyPr/>
                    <a:lstStyle/>
                    <a:p>
                      <a:pPr algn="ctr" marL="6604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2700" spc="-8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News</a:t>
                      </a:r>
                      <a:r>
                        <a:rPr dirty="0" sz="2700" spc="-1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on</a:t>
                      </a:r>
                      <a:r>
                        <a:rPr dirty="0" sz="2700" spc="-5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3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SEBI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</a:tr>
              <a:tr h="747395">
                <a:tc>
                  <a:txBody>
                    <a:bodyPr/>
                    <a:lstStyle/>
                    <a:p>
                      <a:pPr algn="ctr" marL="121285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dirty="0" sz="3200" spc="-25" b="1">
                          <a:latin typeface="Calibri"/>
                          <a:cs typeface="Calibri"/>
                        </a:rPr>
                        <a:t>NIL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841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90625" y="168846"/>
            <a:ext cx="489584" cy="11239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59735" y="291788"/>
            <a:ext cx="7409180" cy="906144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30"/>
              </a:spcBef>
              <a:tabLst>
                <a:tab pos="898525" algn="l"/>
                <a:tab pos="2454275" algn="l"/>
                <a:tab pos="3300095" algn="l"/>
              </a:tabLst>
            </a:pP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R</a:t>
            </a:r>
            <a:r>
              <a:rPr dirty="0" sz="3350" spc="-34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B</a:t>
            </a:r>
            <a:r>
              <a:rPr dirty="0" sz="3350" spc="-33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-50" b="1">
                <a:solidFill>
                  <a:srgbClr val="0083E6"/>
                </a:solidFill>
                <a:latin typeface="Calibri"/>
                <a:cs typeface="Calibri"/>
              </a:rPr>
              <a:t>I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</a:t>
            </a:r>
            <a:r>
              <a:rPr dirty="0" sz="3350" spc="175" b="1">
                <a:solidFill>
                  <a:srgbClr val="0083E6"/>
                </a:solidFill>
                <a:latin typeface="Calibri"/>
                <a:cs typeface="Calibri"/>
              </a:rPr>
              <a:t>du</a:t>
            </a:r>
            <a:r>
              <a:rPr dirty="0" sz="3350" spc="-32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r</a:t>
            </a:r>
            <a:r>
              <a:rPr dirty="0" sz="3350" spc="-38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i</a:t>
            </a:r>
            <a:r>
              <a:rPr dirty="0" sz="3350" spc="-31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150" b="1">
                <a:solidFill>
                  <a:srgbClr val="0083E6"/>
                </a:solidFill>
                <a:latin typeface="Calibri"/>
                <a:cs typeface="Calibri"/>
              </a:rPr>
              <a:t>ng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</a:t>
            </a:r>
            <a:r>
              <a:rPr dirty="0" sz="3350" spc="225" b="1">
                <a:solidFill>
                  <a:srgbClr val="0083E6"/>
                </a:solidFill>
                <a:latin typeface="Calibri"/>
                <a:cs typeface="Calibri"/>
              </a:rPr>
              <a:t>the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</a:t>
            </a:r>
            <a:r>
              <a:rPr dirty="0" sz="3350" spc="200" b="1">
                <a:solidFill>
                  <a:srgbClr val="0083E6"/>
                </a:solidFill>
                <a:latin typeface="Calibri"/>
                <a:cs typeface="Calibri"/>
              </a:rPr>
              <a:t>we</a:t>
            </a:r>
            <a:r>
              <a:rPr dirty="0" sz="3350" spc="-29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e</a:t>
            </a:r>
            <a:r>
              <a:rPr dirty="0" sz="3350" spc="-28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-50" b="1">
                <a:solidFill>
                  <a:srgbClr val="0083E6"/>
                </a:solidFill>
                <a:latin typeface="Calibri"/>
                <a:cs typeface="Calibri"/>
              </a:rPr>
              <a:t>k</a:t>
            </a:r>
            <a:endParaRPr sz="3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850" spc="110">
                <a:solidFill>
                  <a:srgbClr val="FFFFFF"/>
                </a:solidFill>
                <a:latin typeface="Calibri"/>
                <a:cs typeface="Calibri"/>
              </a:rPr>
              <a:t>Notifications</a:t>
            </a:r>
            <a:r>
              <a:rPr dirty="0" sz="1850" spc="1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0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50" spc="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00">
                <a:solidFill>
                  <a:srgbClr val="FFFFFF"/>
                </a:solidFill>
                <a:latin typeface="Calibri"/>
                <a:cs typeface="Calibri"/>
              </a:rPr>
              <a:t>Master</a:t>
            </a:r>
            <a:r>
              <a:rPr dirty="0" sz="1850" spc="1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20">
                <a:solidFill>
                  <a:srgbClr val="FFFFFF"/>
                </a:solidFill>
                <a:latin typeface="Calibri"/>
                <a:cs typeface="Calibri"/>
              </a:rPr>
              <a:t>Directions</a:t>
            </a:r>
            <a:r>
              <a:rPr dirty="0" sz="1850" spc="2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55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850" spc="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14">
                <a:solidFill>
                  <a:srgbClr val="FFFFFF"/>
                </a:solidFill>
                <a:latin typeface="Calibri"/>
                <a:cs typeface="Calibri"/>
              </a:rPr>
              <a:t>Circulars</a:t>
            </a:r>
            <a:r>
              <a:rPr dirty="0" sz="1850" spc="1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0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50" spc="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35">
                <a:solidFill>
                  <a:srgbClr val="FFFFFF"/>
                </a:solidFill>
                <a:latin typeface="Calibri"/>
                <a:cs typeface="Calibri"/>
              </a:rPr>
              <a:t>Press</a:t>
            </a:r>
            <a:r>
              <a:rPr dirty="0" sz="1850" spc="20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35">
                <a:solidFill>
                  <a:srgbClr val="FFFFFF"/>
                </a:solidFill>
                <a:latin typeface="Calibri"/>
                <a:cs typeface="Calibri"/>
              </a:rPr>
              <a:t>Release-</a:t>
            </a:r>
            <a:r>
              <a:rPr dirty="0" sz="1850" spc="-5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123825"/>
            <a:ext cx="1514475" cy="1514475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51661" y="1684654"/>
          <a:ext cx="16377285" cy="3758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9500"/>
                <a:gridCol w="1661160"/>
                <a:gridCol w="2744469"/>
                <a:gridCol w="4351655"/>
                <a:gridCol w="6451600"/>
              </a:tblGrid>
              <a:tr h="132524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7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S.</a:t>
                      </a:r>
                      <a:r>
                        <a:rPr dirty="0" sz="27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marL="471805" marR="308610" indent="-159385">
                        <a:lnSpc>
                          <a:spcPts val="3229"/>
                        </a:lnSpc>
                        <a:spcBef>
                          <a:spcPts val="245"/>
                        </a:spcBef>
                      </a:pPr>
                      <a:r>
                        <a:rPr dirty="0" sz="27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Date</a:t>
                      </a:r>
                      <a:r>
                        <a:rPr dirty="0" sz="2700" spc="-1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Issue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9860" marR="119380">
                        <a:lnSpc>
                          <a:spcPct val="99600"/>
                        </a:lnSpc>
                        <a:spcBef>
                          <a:spcPts val="110"/>
                        </a:spcBef>
                      </a:pPr>
                      <a:r>
                        <a:rPr dirty="0" sz="27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Rules</a:t>
                      </a:r>
                      <a:r>
                        <a:rPr dirty="0" sz="2700" spc="-1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27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circulars</a:t>
                      </a:r>
                      <a:r>
                        <a:rPr dirty="0" sz="2700" spc="-7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Notifications</a:t>
                      </a:r>
                      <a:r>
                        <a:rPr dirty="0" sz="2700" spc="-7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Order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marL="979169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7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Contents</a:t>
                      </a:r>
                      <a:r>
                        <a:rPr dirty="0" sz="2700" spc="-8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thereof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7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Gist</a:t>
                      </a:r>
                      <a:r>
                        <a:rPr dirty="0" sz="2700" spc="-1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thereof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</a:tr>
              <a:tr h="1216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  <a:tr h="1216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45000" y="0"/>
            <a:ext cx="1143000" cy="1390650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367536" y="8906129"/>
          <a:ext cx="16361410" cy="1138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72510"/>
              </a:tblGrid>
              <a:tr h="569595">
                <a:tc>
                  <a:txBody>
                    <a:bodyPr/>
                    <a:lstStyle/>
                    <a:p>
                      <a:pPr algn="ctr" marL="768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2700" spc="-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News</a:t>
                      </a:r>
                      <a:r>
                        <a:rPr dirty="0" sz="2700" spc="-229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on</a:t>
                      </a:r>
                      <a:r>
                        <a:rPr dirty="0" sz="27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33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RBI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ctr" marL="7048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2700" spc="-25" b="1">
                          <a:latin typeface="Tahoma"/>
                          <a:cs typeface="Tahoma"/>
                        </a:rPr>
                        <a:t>NIL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9547" rIns="0" bIns="0" rtlCol="0" vert="horz">
            <a:spAutoFit/>
          </a:bodyPr>
          <a:lstStyle/>
          <a:p>
            <a:pPr marL="72390">
              <a:lnSpc>
                <a:spcPct val="100000"/>
              </a:lnSpc>
              <a:spcBef>
                <a:spcPts val="105"/>
              </a:spcBef>
            </a:pPr>
            <a:r>
              <a:rPr dirty="0" spc="-5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1275" y="397249"/>
            <a:ext cx="7896225" cy="1306195"/>
          </a:xfrm>
          <a:prstGeom prst="rect">
            <a:avLst/>
          </a:prstGeom>
        </p:spPr>
        <p:txBody>
          <a:bodyPr wrap="square" lIns="0" tIns="1530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5"/>
              </a:spcBef>
              <a:tabLst>
                <a:tab pos="1094740" algn="l"/>
                <a:tab pos="2646680" algn="l"/>
                <a:tab pos="3491865" algn="l"/>
              </a:tabLst>
            </a:pP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I</a:t>
            </a:r>
            <a:r>
              <a:rPr dirty="0" sz="3350" spc="-31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F</a:t>
            </a:r>
            <a:r>
              <a:rPr dirty="0" sz="3350" spc="-28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S</a:t>
            </a:r>
            <a:r>
              <a:rPr dirty="0" sz="3350" spc="-254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-50" b="1">
                <a:solidFill>
                  <a:srgbClr val="0083E6"/>
                </a:solidFill>
                <a:latin typeface="Calibri"/>
                <a:cs typeface="Calibri"/>
              </a:rPr>
              <a:t>C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</a:t>
            </a:r>
            <a:r>
              <a:rPr dirty="0" sz="3350" spc="180" b="1">
                <a:solidFill>
                  <a:srgbClr val="0083E6"/>
                </a:solidFill>
                <a:latin typeface="Calibri"/>
                <a:cs typeface="Calibri"/>
              </a:rPr>
              <a:t>du</a:t>
            </a:r>
            <a:r>
              <a:rPr dirty="0" sz="3350" spc="-32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r</a:t>
            </a:r>
            <a:r>
              <a:rPr dirty="0" sz="3350" spc="-38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180" b="1">
                <a:solidFill>
                  <a:srgbClr val="0083E6"/>
                </a:solidFill>
                <a:latin typeface="Calibri"/>
                <a:cs typeface="Calibri"/>
              </a:rPr>
              <a:t>in</a:t>
            </a:r>
            <a:r>
              <a:rPr dirty="0" sz="3350" spc="-32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-50" b="1">
                <a:solidFill>
                  <a:srgbClr val="0083E6"/>
                </a:solidFill>
                <a:latin typeface="Calibri"/>
                <a:cs typeface="Calibri"/>
              </a:rPr>
              <a:t>g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</a:t>
            </a:r>
            <a:r>
              <a:rPr dirty="0" sz="3350" spc="225" b="1">
                <a:solidFill>
                  <a:srgbClr val="0083E6"/>
                </a:solidFill>
                <a:latin typeface="Calibri"/>
                <a:cs typeface="Calibri"/>
              </a:rPr>
              <a:t>the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w</a:t>
            </a:r>
            <a:r>
              <a:rPr dirty="0" sz="3350" spc="-28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195" b="1">
                <a:solidFill>
                  <a:srgbClr val="0083E6"/>
                </a:solidFill>
                <a:latin typeface="Calibri"/>
                <a:cs typeface="Calibri"/>
              </a:rPr>
              <a:t>ee</a:t>
            </a:r>
            <a:r>
              <a:rPr dirty="0" sz="3350" spc="-28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-50" b="1">
                <a:solidFill>
                  <a:srgbClr val="0083E6"/>
                </a:solidFill>
                <a:latin typeface="Calibri"/>
                <a:cs typeface="Calibri"/>
              </a:rPr>
              <a:t>k</a:t>
            </a:r>
            <a:endParaRPr sz="3350">
              <a:latin typeface="Calibri"/>
              <a:cs typeface="Calibri"/>
            </a:endParaRPr>
          </a:p>
          <a:p>
            <a:pPr marL="50800" marR="5080">
              <a:lnSpc>
                <a:spcPts val="2100"/>
              </a:lnSpc>
              <a:spcBef>
                <a:spcPts val="800"/>
              </a:spcBef>
            </a:pPr>
            <a:r>
              <a:rPr dirty="0" sz="1850" spc="145">
                <a:solidFill>
                  <a:srgbClr val="FFFFFF"/>
                </a:solidFill>
                <a:latin typeface="Calibri"/>
                <a:cs typeface="Calibri"/>
              </a:rPr>
              <a:t>Public</a:t>
            </a:r>
            <a:r>
              <a:rPr dirty="0" sz="1850" spc="229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30">
                <a:solidFill>
                  <a:srgbClr val="FFFFFF"/>
                </a:solidFill>
                <a:latin typeface="Calibri"/>
                <a:cs typeface="Calibri"/>
              </a:rPr>
              <a:t>Consultation</a:t>
            </a:r>
            <a:r>
              <a:rPr dirty="0" sz="1850" spc="2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50" spc="1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55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14">
                <a:solidFill>
                  <a:srgbClr val="FFFFFF"/>
                </a:solidFill>
                <a:latin typeface="Calibri"/>
                <a:cs typeface="Calibri"/>
              </a:rPr>
              <a:t>Circulars</a:t>
            </a:r>
            <a:r>
              <a:rPr dirty="0" sz="1850" spc="1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– </a:t>
            </a:r>
            <a:r>
              <a:rPr dirty="0" sz="1850" spc="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35">
                <a:solidFill>
                  <a:srgbClr val="FFFFFF"/>
                </a:solidFill>
                <a:latin typeface="Calibri"/>
                <a:cs typeface="Calibri"/>
              </a:rPr>
              <a:t>Press</a:t>
            </a:r>
            <a:r>
              <a:rPr dirty="0" sz="1850" spc="1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30">
                <a:solidFill>
                  <a:srgbClr val="FFFFFF"/>
                </a:solidFill>
                <a:latin typeface="Calibri"/>
                <a:cs typeface="Calibri"/>
              </a:rPr>
              <a:t>Release</a:t>
            </a:r>
            <a:r>
              <a:rPr dirty="0" sz="1850" spc="1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8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50">
                <a:solidFill>
                  <a:srgbClr val="FFFFFF"/>
                </a:solidFill>
                <a:latin typeface="Calibri"/>
                <a:cs typeface="Calibri"/>
              </a:rPr>
              <a:t>0; </a:t>
            </a:r>
            <a:r>
              <a:rPr dirty="0" sz="1850" spc="135">
                <a:solidFill>
                  <a:srgbClr val="FFFFFF"/>
                </a:solidFill>
                <a:latin typeface="Calibri"/>
                <a:cs typeface="Calibri"/>
              </a:rPr>
              <a:t>Regulations:</a:t>
            </a:r>
            <a:r>
              <a:rPr dirty="0" sz="1850" spc="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25">
                <a:solidFill>
                  <a:srgbClr val="FFFFFF"/>
                </a:solidFill>
                <a:latin typeface="Calibri"/>
                <a:cs typeface="Calibri"/>
              </a:rPr>
              <a:t>0; </a:t>
            </a:r>
            <a:r>
              <a:rPr dirty="0" sz="1850" spc="135">
                <a:solidFill>
                  <a:srgbClr val="FFFFFF"/>
                </a:solidFill>
                <a:latin typeface="Calibri"/>
                <a:cs typeface="Calibri"/>
              </a:rPr>
              <a:t>Guidelines-</a:t>
            </a:r>
            <a:r>
              <a:rPr dirty="0" sz="1850" spc="55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85">
                <a:solidFill>
                  <a:srgbClr val="FFFFFF"/>
                </a:solidFill>
                <a:latin typeface="Calibri"/>
                <a:cs typeface="Calibri"/>
              </a:rPr>
              <a:t>Notification:</a:t>
            </a:r>
            <a:r>
              <a:rPr dirty="0" sz="1850" spc="1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25">
                <a:solidFill>
                  <a:srgbClr val="FFFFFF"/>
                </a:solidFill>
                <a:latin typeface="Calibri"/>
                <a:cs typeface="Calibri"/>
              </a:rPr>
              <a:t>FAQs:</a:t>
            </a:r>
            <a:r>
              <a:rPr dirty="0" sz="1850" spc="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25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endParaRPr sz="185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63700" y="1881632"/>
          <a:ext cx="16473169" cy="4751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5850"/>
                <a:gridCol w="1670685"/>
                <a:gridCol w="2310130"/>
                <a:gridCol w="4209415"/>
                <a:gridCol w="7108190"/>
              </a:tblGrid>
              <a:tr h="1737360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700" spc="-1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S.</a:t>
                      </a:r>
                      <a:r>
                        <a:rPr dirty="0" sz="2700" spc="-229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marL="426720" marR="211454" indent="-189230">
                        <a:lnSpc>
                          <a:spcPts val="3300"/>
                        </a:lnSpc>
                        <a:spcBef>
                          <a:spcPts val="85"/>
                        </a:spcBef>
                      </a:pP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Date</a:t>
                      </a:r>
                      <a:r>
                        <a:rPr dirty="0" sz="2700" spc="-18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4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of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Issue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9225" marR="107950" indent="33020">
                        <a:lnSpc>
                          <a:spcPct val="100800"/>
                        </a:lnSpc>
                        <a:spcBef>
                          <a:spcPts val="40"/>
                        </a:spcBef>
                      </a:pPr>
                      <a:r>
                        <a:rPr dirty="0" sz="2700" spc="-1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Rules</a:t>
                      </a:r>
                      <a:r>
                        <a:rPr dirty="0" sz="2700" spc="-1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 circulars</a:t>
                      </a:r>
                      <a:r>
                        <a:rPr dirty="0" sz="2700" spc="-1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 </a:t>
                      </a:r>
                      <a:r>
                        <a:rPr dirty="0" sz="2700" spc="-1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Notifications</a:t>
                      </a:r>
                      <a:endParaRPr sz="2700">
                        <a:latin typeface="Tahoma"/>
                        <a:cs typeface="Tahoma"/>
                      </a:endParaRPr>
                    </a:p>
                    <a:p>
                      <a:pPr algn="ctr" marL="127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2700" spc="-33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Order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50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09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700" spc="-7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Contents</a:t>
                      </a:r>
                      <a:r>
                        <a:rPr dirty="0" sz="2700" spc="-1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thereof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7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700" spc="-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Gist</a:t>
                      </a:r>
                      <a:r>
                        <a:rPr dirty="0" sz="2700" spc="-1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thereof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</a:tr>
              <a:tr h="10045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  <a:tr h="10045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</a:tr>
              <a:tr h="1005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66700"/>
            <a:ext cx="1504950" cy="1514475"/>
          </a:xfrm>
          <a:prstGeom prst="rect">
            <a:avLst/>
          </a:prstGeom>
        </p:spPr>
      </p:pic>
      <p:pic>
        <p:nvPicPr>
          <p:cNvPr id="6" name="object 6" descr="A blue circle with white text and stars and a white circle with a blue ribbon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21175" y="0"/>
            <a:ext cx="1266825" cy="11525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587500" y="7112000"/>
          <a:ext cx="16471900" cy="1249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83000"/>
              </a:tblGrid>
              <a:tr h="502284">
                <a:tc>
                  <a:txBody>
                    <a:bodyPr/>
                    <a:lstStyle/>
                    <a:p>
                      <a:pPr algn="ctr" marL="209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700" spc="-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News</a:t>
                      </a:r>
                      <a:r>
                        <a:rPr dirty="0" sz="2700" spc="-1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on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IFSCA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</a:tr>
              <a:tr h="747395">
                <a:tc>
                  <a:txBody>
                    <a:bodyPr/>
                    <a:lstStyle/>
                    <a:p>
                      <a:pPr algn="ctr" marL="125095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dirty="0" sz="3200" spc="-25" b="1">
                          <a:latin typeface="Calibri"/>
                          <a:cs typeface="Calibri"/>
                        </a:rPr>
                        <a:t>NIL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81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87500" y="1412239"/>
          <a:ext cx="16473169" cy="3745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5850"/>
                <a:gridCol w="1670685"/>
                <a:gridCol w="2310130"/>
                <a:gridCol w="4209415"/>
                <a:gridCol w="7108190"/>
              </a:tblGrid>
              <a:tr h="173672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2700" spc="-1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S.</a:t>
                      </a:r>
                      <a:r>
                        <a:rPr dirty="0" sz="2700" spc="-2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3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marL="426720" marR="210820" indent="-187960">
                        <a:lnSpc>
                          <a:spcPts val="3300"/>
                        </a:lnSpc>
                        <a:spcBef>
                          <a:spcPts val="80"/>
                        </a:spcBef>
                      </a:pP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Date</a:t>
                      </a:r>
                      <a:r>
                        <a:rPr dirty="0" sz="2700" spc="-18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of </a:t>
                      </a:r>
                      <a:r>
                        <a:rPr dirty="0" sz="27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Issue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0495" marR="104139" indent="27940">
                        <a:lnSpc>
                          <a:spcPct val="100800"/>
                        </a:lnSpc>
                        <a:spcBef>
                          <a:spcPts val="35"/>
                        </a:spcBef>
                      </a:pPr>
                      <a:r>
                        <a:rPr dirty="0" sz="2700" spc="-1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Rules</a:t>
                      </a:r>
                      <a:r>
                        <a:rPr dirty="0" sz="2700" spc="-1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 </a:t>
                      </a:r>
                      <a:r>
                        <a:rPr dirty="0" sz="2700" spc="-5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circulars</a:t>
                      </a:r>
                      <a:r>
                        <a:rPr dirty="0" sz="2700" spc="-1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 </a:t>
                      </a:r>
                      <a:r>
                        <a:rPr dirty="0" sz="2700" spc="-1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Notifications</a:t>
                      </a:r>
                      <a:endParaRPr sz="2700">
                        <a:latin typeface="Tahoma"/>
                        <a:cs typeface="Tahoma"/>
                      </a:endParaRPr>
                    </a:p>
                    <a:p>
                      <a:pPr algn="ctr" marL="1397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2700" spc="-33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Order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4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2700" spc="-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Contents</a:t>
                      </a:r>
                      <a:r>
                        <a:rPr dirty="0" sz="2700" spc="-13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thereof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68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2700" spc="-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Gist</a:t>
                      </a:r>
                      <a:r>
                        <a:rPr dirty="0" sz="2700" spc="-1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thereof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</a:tr>
              <a:tr h="10045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  <a:tr h="10045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2"/>
            <a:ext cx="18302605" cy="10287000"/>
            <a:chOff x="0" y="-2"/>
            <a:chExt cx="18302605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682976" y="4714508"/>
              <a:ext cx="2605405" cy="2729230"/>
            </a:xfrm>
            <a:custGeom>
              <a:avLst/>
              <a:gdLst/>
              <a:ahLst/>
              <a:cxnLst/>
              <a:rect l="l" t="t" r="r" b="b"/>
              <a:pathLst>
                <a:path w="2605405" h="2729229">
                  <a:moveTo>
                    <a:pt x="2605023" y="0"/>
                  </a:moveTo>
                  <a:lnTo>
                    <a:pt x="0" y="2613772"/>
                  </a:lnTo>
                </a:path>
                <a:path w="2605405" h="2729229">
                  <a:moveTo>
                    <a:pt x="2605023" y="830706"/>
                  </a:moveTo>
                  <a:lnTo>
                    <a:pt x="712977" y="2728961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-2"/>
              <a:ext cx="18288000" cy="10248900"/>
            </a:xfrm>
            <a:custGeom>
              <a:avLst/>
              <a:gdLst/>
              <a:ahLst/>
              <a:cxnLst/>
              <a:rect l="l" t="t" r="r" b="b"/>
              <a:pathLst>
                <a:path w="18288000" h="10248900">
                  <a:moveTo>
                    <a:pt x="18288000" y="0"/>
                  </a:moveTo>
                  <a:lnTo>
                    <a:pt x="0" y="0"/>
                  </a:lnTo>
                  <a:lnTo>
                    <a:pt x="0" y="10248900"/>
                  </a:lnTo>
                  <a:lnTo>
                    <a:pt x="18288000" y="102489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59116" rIns="0" bIns="0" rtlCol="0" vert="horz">
            <a:spAutoFit/>
          </a:bodyPr>
          <a:lstStyle/>
          <a:p>
            <a:pPr marL="128905">
              <a:lnSpc>
                <a:spcPct val="100000"/>
              </a:lnSpc>
              <a:spcBef>
                <a:spcPts val="105"/>
              </a:spcBef>
            </a:pPr>
            <a:r>
              <a:rPr dirty="0" spc="-50"/>
              <a:t>5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06675" y="759661"/>
            <a:ext cx="7687945" cy="1254760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43180">
              <a:lnSpc>
                <a:spcPct val="100000"/>
              </a:lnSpc>
              <a:spcBef>
                <a:spcPts val="944"/>
              </a:spcBef>
              <a:tabLst>
                <a:tab pos="2470150" algn="l"/>
                <a:tab pos="3421379" algn="l"/>
                <a:tab pos="6085205" algn="l"/>
              </a:tabLst>
            </a:pPr>
            <a:r>
              <a:rPr dirty="0" sz="3350" spc="300" b="1">
                <a:solidFill>
                  <a:srgbClr val="0083E6"/>
                </a:solidFill>
                <a:latin typeface="Calibri"/>
                <a:cs typeface="Calibri"/>
              </a:rPr>
              <a:t>Insolvency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a</a:t>
            </a:r>
            <a:r>
              <a:rPr dirty="0" sz="3350" spc="-32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n</a:t>
            </a:r>
            <a:r>
              <a:rPr dirty="0" sz="3350" spc="-24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-50" b="1">
                <a:solidFill>
                  <a:srgbClr val="0083E6"/>
                </a:solidFill>
                <a:latin typeface="Calibri"/>
                <a:cs typeface="Calibri"/>
              </a:rPr>
              <a:t>d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B</a:t>
            </a:r>
            <a:r>
              <a:rPr dirty="0" sz="3350" spc="-32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180" b="1">
                <a:solidFill>
                  <a:srgbClr val="0083E6"/>
                </a:solidFill>
                <a:latin typeface="Calibri"/>
                <a:cs typeface="Calibri"/>
              </a:rPr>
              <a:t>an</a:t>
            </a:r>
            <a:r>
              <a:rPr dirty="0" sz="3350" spc="-31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200" b="1">
                <a:solidFill>
                  <a:srgbClr val="0083E6"/>
                </a:solidFill>
                <a:latin typeface="Calibri"/>
                <a:cs typeface="Calibri"/>
              </a:rPr>
              <a:t>kr</a:t>
            </a:r>
            <a:r>
              <a:rPr dirty="0" sz="3350" spc="-30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175" b="1">
                <a:solidFill>
                  <a:srgbClr val="0083E6"/>
                </a:solidFill>
                <a:latin typeface="Calibri"/>
                <a:cs typeface="Calibri"/>
              </a:rPr>
              <a:t>up</a:t>
            </a:r>
            <a:r>
              <a:rPr dirty="0" sz="3350" spc="-31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200" b="1">
                <a:solidFill>
                  <a:srgbClr val="0083E6"/>
                </a:solidFill>
                <a:latin typeface="Calibri"/>
                <a:cs typeface="Calibri"/>
              </a:rPr>
              <a:t>tc</a:t>
            </a:r>
            <a:r>
              <a:rPr dirty="0" sz="3350" spc="-29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-50" b="1">
                <a:solidFill>
                  <a:srgbClr val="0083E6"/>
                </a:solidFill>
                <a:latin typeface="Calibri"/>
                <a:cs typeface="Calibri"/>
              </a:rPr>
              <a:t>y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C</a:t>
            </a:r>
            <a:r>
              <a:rPr dirty="0" sz="3350" spc="-31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175" b="1">
                <a:solidFill>
                  <a:srgbClr val="0083E6"/>
                </a:solidFill>
                <a:latin typeface="Calibri"/>
                <a:cs typeface="Calibri"/>
              </a:rPr>
              <a:t>od</a:t>
            </a:r>
            <a:r>
              <a:rPr dirty="0" sz="3350" spc="-32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-50" b="1">
                <a:solidFill>
                  <a:srgbClr val="0083E6"/>
                </a:solidFill>
                <a:latin typeface="Calibri"/>
                <a:cs typeface="Calibri"/>
              </a:rPr>
              <a:t>e</a:t>
            </a:r>
            <a:endParaRPr sz="335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  <a:spcBef>
                <a:spcPts val="484"/>
              </a:spcBef>
            </a:pPr>
            <a:r>
              <a:rPr dirty="0" sz="1850" spc="140">
                <a:solidFill>
                  <a:srgbClr val="FFFFFF"/>
                </a:solidFill>
                <a:latin typeface="Calibri"/>
                <a:cs typeface="Calibri"/>
              </a:rPr>
              <a:t>Press</a:t>
            </a:r>
            <a:r>
              <a:rPr dirty="0" sz="1850" spc="1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30">
                <a:solidFill>
                  <a:srgbClr val="FFFFFF"/>
                </a:solidFill>
                <a:latin typeface="Calibri"/>
                <a:cs typeface="Calibri"/>
              </a:rPr>
              <a:t>Release</a:t>
            </a:r>
            <a:r>
              <a:rPr dirty="0" sz="1850" spc="1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8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55">
                <a:solidFill>
                  <a:srgbClr val="FFFFFF"/>
                </a:solidFill>
                <a:latin typeface="Calibri"/>
                <a:cs typeface="Calibri"/>
              </a:rPr>
              <a:t>0; </a:t>
            </a:r>
            <a:r>
              <a:rPr dirty="0" sz="1850" spc="100">
                <a:solidFill>
                  <a:srgbClr val="FFFFFF"/>
                </a:solidFill>
                <a:latin typeface="Calibri"/>
                <a:cs typeface="Calibri"/>
              </a:rPr>
              <a:t>Master</a:t>
            </a:r>
            <a:r>
              <a:rPr dirty="0" sz="1850" spc="1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20">
                <a:solidFill>
                  <a:srgbClr val="FFFFFF"/>
                </a:solidFill>
                <a:latin typeface="Calibri"/>
                <a:cs typeface="Calibri"/>
              </a:rPr>
              <a:t>Direction</a:t>
            </a:r>
            <a:r>
              <a:rPr dirty="0" sz="1850" spc="1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8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55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05">
                <a:solidFill>
                  <a:srgbClr val="FFFFFF"/>
                </a:solidFill>
                <a:latin typeface="Calibri"/>
                <a:cs typeface="Calibri"/>
              </a:rPr>
              <a:t>Notification</a:t>
            </a:r>
            <a:r>
              <a:rPr dirty="0" sz="1850" spc="1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8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55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14">
                <a:solidFill>
                  <a:srgbClr val="FFFFFF"/>
                </a:solidFill>
                <a:latin typeface="Calibri"/>
                <a:cs typeface="Calibri"/>
              </a:rPr>
              <a:t>Circulars</a:t>
            </a:r>
            <a:r>
              <a:rPr dirty="0" sz="1850" spc="1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850" spc="459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25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dirty="0" sz="1850" spc="145">
                <a:solidFill>
                  <a:srgbClr val="FFFFFF"/>
                </a:solidFill>
                <a:latin typeface="Calibri"/>
                <a:cs typeface="Calibri"/>
              </a:rPr>
              <a:t>Discussion</a:t>
            </a:r>
            <a:r>
              <a:rPr dirty="0" sz="1850" spc="1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55">
                <a:solidFill>
                  <a:srgbClr val="FFFFFF"/>
                </a:solidFill>
                <a:latin typeface="Calibri"/>
                <a:cs typeface="Calibri"/>
              </a:rPr>
              <a:t>Paper-</a:t>
            </a:r>
            <a:r>
              <a:rPr dirty="0" sz="1850" spc="1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25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9625" y="619125"/>
            <a:ext cx="1514475" cy="1514475"/>
          </a:xfrm>
          <a:prstGeom prst="rect">
            <a:avLst/>
          </a:prstGeom>
        </p:spPr>
      </p:pic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353185" y="2120900"/>
          <a:ext cx="16146780" cy="2474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4260"/>
                <a:gridCol w="1637664"/>
                <a:gridCol w="2924810"/>
                <a:gridCol w="4048760"/>
                <a:gridCol w="6382385"/>
              </a:tblGrid>
              <a:tr h="1334770"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700" spc="-1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S.</a:t>
                      </a:r>
                      <a:r>
                        <a:rPr dirty="0" sz="2700" spc="-229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marL="410209" marR="195580" indent="-189230">
                        <a:lnSpc>
                          <a:spcPts val="3300"/>
                        </a:lnSpc>
                        <a:spcBef>
                          <a:spcPts val="85"/>
                        </a:spcBef>
                      </a:pP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Date</a:t>
                      </a:r>
                      <a:r>
                        <a:rPr dirty="0" sz="2700" spc="-1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5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of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Issue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700" spc="-1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Rules</a:t>
                      </a:r>
                      <a:r>
                        <a:rPr dirty="0" sz="2700" spc="-1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2700" spc="-3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circulars</a:t>
                      </a:r>
                      <a:endParaRPr sz="2700">
                        <a:latin typeface="Tahoma"/>
                        <a:cs typeface="Tahoma"/>
                      </a:endParaRPr>
                    </a:p>
                    <a:p>
                      <a:pPr marL="991235" marR="153035" indent="-800100">
                        <a:lnSpc>
                          <a:spcPts val="3229"/>
                        </a:lnSpc>
                        <a:spcBef>
                          <a:spcPts val="254"/>
                        </a:spcBef>
                      </a:pP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2700" spc="-28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Notifications</a:t>
                      </a:r>
                      <a:r>
                        <a:rPr dirty="0" sz="2700" spc="-16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 </a:t>
                      </a:r>
                      <a:r>
                        <a:rPr dirty="0" sz="27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Order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700" spc="-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Contents</a:t>
                      </a:r>
                      <a:r>
                        <a:rPr dirty="0" sz="2700" spc="-13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thereof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68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700" spc="-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Gist</a:t>
                      </a:r>
                      <a:r>
                        <a:rPr dirty="0" sz="2700" spc="-1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thereof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</a:tr>
              <a:tr h="1139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1292478" y="6731381"/>
            <a:ext cx="16034385" cy="502920"/>
          </a:xfrm>
          <a:custGeom>
            <a:avLst/>
            <a:gdLst/>
            <a:ahLst/>
            <a:cxnLst/>
            <a:rect l="l" t="t" r="r" b="b"/>
            <a:pathLst>
              <a:path w="16034385" h="502920">
                <a:moveTo>
                  <a:pt x="16034385" y="0"/>
                </a:moveTo>
                <a:lnTo>
                  <a:pt x="0" y="0"/>
                </a:lnTo>
                <a:lnTo>
                  <a:pt x="0" y="502920"/>
                </a:lnTo>
                <a:lnTo>
                  <a:pt x="16034385" y="502920"/>
                </a:lnTo>
                <a:lnTo>
                  <a:pt x="16034385" y="0"/>
                </a:lnTo>
                <a:close/>
              </a:path>
            </a:pathLst>
          </a:custGeom>
          <a:solidFill>
            <a:srgbClr val="042D5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286128" y="6725031"/>
          <a:ext cx="16123285" cy="1250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34385"/>
              </a:tblGrid>
              <a:tr h="502920">
                <a:tc>
                  <a:txBody>
                    <a:bodyPr/>
                    <a:lstStyle/>
                    <a:p>
                      <a:pPr algn="ctr" marL="2159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2700" spc="-8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News</a:t>
                      </a:r>
                      <a:r>
                        <a:rPr dirty="0" sz="2700" spc="-19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on</a:t>
                      </a:r>
                      <a:r>
                        <a:rPr dirty="0" sz="2700" spc="-7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IBC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</a:tr>
              <a:tr h="747395">
                <a:tc>
                  <a:txBody>
                    <a:bodyPr/>
                    <a:lstStyle/>
                    <a:p>
                      <a:pPr algn="ctr" marL="31750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dirty="0" sz="3200" spc="-25" b="1">
                          <a:latin typeface="Calibri"/>
                          <a:cs typeface="Calibri"/>
                        </a:rPr>
                        <a:t>NIL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80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</a:tbl>
          </a:graphicData>
        </a:graphic>
      </p:graphicFrame>
      <p:pic>
        <p:nvPicPr>
          <p:cNvPr id="12" name="object 12" descr="A blue circle with white text and stars and a white circle with a blue ribbon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87850" y="0"/>
            <a:ext cx="1200150" cy="1057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105"/>
              </a:spcBef>
            </a:pPr>
            <a:r>
              <a:rPr dirty="0" spc="-50"/>
              <a:t>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04439" y="292032"/>
            <a:ext cx="7953375" cy="87947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  <a:tabLst>
                <a:tab pos="2167255" algn="l"/>
                <a:tab pos="4780915" algn="l"/>
              </a:tabLst>
            </a:pPr>
            <a:r>
              <a:rPr dirty="0" sz="3350" spc="260" b="1">
                <a:solidFill>
                  <a:srgbClr val="0083E6"/>
                </a:solidFill>
                <a:latin typeface="Calibri"/>
                <a:cs typeface="Calibri"/>
              </a:rPr>
              <a:t>Alternate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</a:t>
            </a:r>
            <a:r>
              <a:rPr dirty="0" sz="3350" spc="320" b="1">
                <a:solidFill>
                  <a:srgbClr val="0083E6"/>
                </a:solidFill>
                <a:latin typeface="Calibri"/>
                <a:cs typeface="Calibri"/>
              </a:rPr>
              <a:t>Investment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F</a:t>
            </a:r>
            <a:r>
              <a:rPr dirty="0" sz="3350" spc="-28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u</a:t>
            </a:r>
            <a:r>
              <a:rPr dirty="0" sz="3350" spc="-32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n</a:t>
            </a:r>
            <a:r>
              <a:rPr dirty="0" sz="3350" spc="-32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d</a:t>
            </a:r>
            <a:r>
              <a:rPr dirty="0" sz="3350" spc="-32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-50" b="1">
                <a:solidFill>
                  <a:srgbClr val="0083E6"/>
                </a:solidFill>
                <a:latin typeface="Calibri"/>
                <a:cs typeface="Calibri"/>
              </a:rPr>
              <a:t>s</a:t>
            </a:r>
            <a:endParaRPr sz="3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850" spc="125">
                <a:solidFill>
                  <a:srgbClr val="FFFFFF"/>
                </a:solidFill>
                <a:latin typeface="Calibri"/>
                <a:cs typeface="Calibri"/>
              </a:rPr>
              <a:t>Circulars</a:t>
            </a:r>
            <a:r>
              <a:rPr dirty="0" sz="185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8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95">
                <a:solidFill>
                  <a:srgbClr val="FFFFFF"/>
                </a:solidFill>
                <a:latin typeface="Calibri"/>
                <a:cs typeface="Calibri"/>
              </a:rPr>
              <a:t>Reg</a:t>
            </a:r>
            <a:r>
              <a:rPr dirty="0" sz="1850" spc="-1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35">
                <a:solidFill>
                  <a:srgbClr val="FFFFFF"/>
                </a:solidFill>
                <a:latin typeface="Calibri"/>
                <a:cs typeface="Calibri"/>
              </a:rPr>
              <a:t>ulation</a:t>
            </a:r>
            <a:r>
              <a:rPr dirty="0" sz="1850" spc="2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50" spc="1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00">
                <a:solidFill>
                  <a:srgbClr val="FFFFFF"/>
                </a:solidFill>
                <a:latin typeface="Calibri"/>
                <a:cs typeface="Calibri"/>
              </a:rPr>
              <a:t>Master</a:t>
            </a:r>
            <a:r>
              <a:rPr dirty="0" sz="1850" spc="1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14">
                <a:solidFill>
                  <a:srgbClr val="FFFFFF"/>
                </a:solidFill>
                <a:latin typeface="Calibri"/>
                <a:cs typeface="Calibri"/>
              </a:rPr>
              <a:t>Circular</a:t>
            </a:r>
            <a:r>
              <a:rPr dirty="0" sz="1850" spc="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0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50" spc="55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30">
                <a:solidFill>
                  <a:srgbClr val="FFFFFF"/>
                </a:solidFill>
                <a:latin typeface="Calibri"/>
                <a:cs typeface="Calibri"/>
              </a:rPr>
              <a:t>Gazette</a:t>
            </a:r>
            <a:r>
              <a:rPr dirty="0" sz="1850" spc="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10">
                <a:solidFill>
                  <a:srgbClr val="FFFFFF"/>
                </a:solidFill>
                <a:latin typeface="Calibri"/>
                <a:cs typeface="Calibri"/>
              </a:rPr>
              <a:t>Notification</a:t>
            </a:r>
            <a:r>
              <a:rPr dirty="0" sz="1850" spc="1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50" spc="1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25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625" y="123825"/>
            <a:ext cx="1514475" cy="1514475"/>
          </a:xfrm>
          <a:prstGeom prst="rect">
            <a:avLst/>
          </a:prstGeom>
        </p:spPr>
      </p:pic>
      <p:pic>
        <p:nvPicPr>
          <p:cNvPr id="5" name="object 5" descr="A blue circle with white text and stars and a white circle with a blue ribbon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49750" y="9525"/>
            <a:ext cx="1238250" cy="1476375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206893" y="4720335"/>
          <a:ext cx="16064230" cy="1249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75330"/>
              </a:tblGrid>
              <a:tr h="502284">
                <a:tc>
                  <a:txBody>
                    <a:bodyPr/>
                    <a:lstStyle/>
                    <a:p>
                      <a:pPr algn="ctr" marL="2222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2700" spc="-8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News</a:t>
                      </a:r>
                      <a:r>
                        <a:rPr dirty="0" sz="2700" spc="-1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on</a:t>
                      </a:r>
                      <a:r>
                        <a:rPr dirty="0" sz="2700" spc="-8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AIF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 marL="123189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dirty="0" sz="3200" spc="-25" b="1">
                          <a:latin typeface="Calibri"/>
                          <a:cs typeface="Calibri"/>
                        </a:rPr>
                        <a:t>NIL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77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257935" y="1869185"/>
          <a:ext cx="16146780" cy="2474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4260"/>
                <a:gridCol w="1637664"/>
                <a:gridCol w="2924810"/>
                <a:gridCol w="4048760"/>
                <a:gridCol w="6382385"/>
              </a:tblGrid>
              <a:tr h="1335405"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700" spc="-1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S.</a:t>
                      </a:r>
                      <a:r>
                        <a:rPr dirty="0" sz="2700" spc="-229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marL="410209" marR="195580" indent="-189230">
                        <a:lnSpc>
                          <a:spcPts val="3300"/>
                        </a:lnSpc>
                        <a:spcBef>
                          <a:spcPts val="90"/>
                        </a:spcBef>
                      </a:pP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Date</a:t>
                      </a:r>
                      <a:r>
                        <a:rPr dirty="0" sz="2700" spc="-1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5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of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Issue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700" spc="-1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Rules</a:t>
                      </a:r>
                      <a:r>
                        <a:rPr dirty="0" sz="2700" spc="-2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2700" spc="-31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circulars</a:t>
                      </a:r>
                      <a:endParaRPr sz="2700">
                        <a:latin typeface="Tahoma"/>
                        <a:cs typeface="Tahoma"/>
                      </a:endParaRPr>
                    </a:p>
                    <a:p>
                      <a:pPr marL="991235" marR="153670" indent="-800100">
                        <a:lnSpc>
                          <a:spcPts val="3229"/>
                        </a:lnSpc>
                        <a:spcBef>
                          <a:spcPts val="254"/>
                        </a:spcBef>
                      </a:pP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2700" spc="-2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Notifications</a:t>
                      </a:r>
                      <a:r>
                        <a:rPr dirty="0" sz="2700" spc="-15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 </a:t>
                      </a:r>
                      <a:r>
                        <a:rPr dirty="0" sz="27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Order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700" spc="-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Contents</a:t>
                      </a:r>
                      <a:r>
                        <a:rPr dirty="0" sz="2700" spc="-13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thereof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700" spc="-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Gist</a:t>
                      </a:r>
                      <a:r>
                        <a:rPr dirty="0" sz="2700" spc="-1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thereof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</a:tr>
              <a:tr h="1139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91184" rIns="0" bIns="0" rtlCol="0" vert="horz">
            <a:spAutoFit/>
          </a:bodyPr>
          <a:lstStyle/>
          <a:p>
            <a:pPr marL="162560">
              <a:lnSpc>
                <a:spcPct val="100000"/>
              </a:lnSpc>
              <a:spcBef>
                <a:spcPts val="105"/>
              </a:spcBef>
            </a:pPr>
            <a:r>
              <a:rPr dirty="0" spc="-50"/>
              <a:t>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06675" y="742491"/>
            <a:ext cx="6077585" cy="1014730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43180">
              <a:lnSpc>
                <a:spcPct val="100000"/>
              </a:lnSpc>
              <a:spcBef>
                <a:spcPts val="1080"/>
              </a:spcBef>
              <a:tabLst>
                <a:tab pos="1626870" algn="l"/>
                <a:tab pos="3190240" algn="l"/>
                <a:tab pos="4025900" algn="l"/>
              </a:tabLst>
            </a:pPr>
            <a:r>
              <a:rPr dirty="0" sz="3350" spc="275" b="1">
                <a:solidFill>
                  <a:srgbClr val="0083E6"/>
                </a:solidFill>
                <a:latin typeface="Calibri"/>
                <a:cs typeface="Calibri"/>
              </a:rPr>
              <a:t>Others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</a:t>
            </a:r>
            <a:r>
              <a:rPr dirty="0" sz="3350" spc="175" b="1">
                <a:solidFill>
                  <a:srgbClr val="0083E6"/>
                </a:solidFill>
                <a:latin typeface="Calibri"/>
                <a:cs typeface="Calibri"/>
              </a:rPr>
              <a:t>du</a:t>
            </a:r>
            <a:r>
              <a:rPr dirty="0" sz="3350" spc="-32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r</a:t>
            </a:r>
            <a:r>
              <a:rPr dirty="0" sz="3350" spc="-38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180" b="1">
                <a:solidFill>
                  <a:srgbClr val="0083E6"/>
                </a:solidFill>
                <a:latin typeface="Calibri"/>
                <a:cs typeface="Calibri"/>
              </a:rPr>
              <a:t>in</a:t>
            </a:r>
            <a:r>
              <a:rPr dirty="0" sz="3350" spc="-315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-50" b="1">
                <a:solidFill>
                  <a:srgbClr val="0083E6"/>
                </a:solidFill>
                <a:latin typeface="Calibri"/>
                <a:cs typeface="Calibri"/>
              </a:rPr>
              <a:t>g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</a:t>
            </a:r>
            <a:r>
              <a:rPr dirty="0" sz="3350" spc="225" b="1">
                <a:solidFill>
                  <a:srgbClr val="0083E6"/>
                </a:solidFill>
                <a:latin typeface="Calibri"/>
                <a:cs typeface="Calibri"/>
              </a:rPr>
              <a:t>the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	w</a:t>
            </a:r>
            <a:r>
              <a:rPr dirty="0" sz="3350" spc="-29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b="1">
                <a:solidFill>
                  <a:srgbClr val="0083E6"/>
                </a:solidFill>
                <a:latin typeface="Calibri"/>
                <a:cs typeface="Calibri"/>
              </a:rPr>
              <a:t>e</a:t>
            </a:r>
            <a:r>
              <a:rPr dirty="0" sz="3350" spc="-290" b="1">
                <a:solidFill>
                  <a:srgbClr val="0083E6"/>
                </a:solidFill>
                <a:latin typeface="Calibri"/>
                <a:cs typeface="Calibri"/>
              </a:rPr>
              <a:t> </a:t>
            </a:r>
            <a:r>
              <a:rPr dirty="0" sz="3350" spc="170" b="1">
                <a:solidFill>
                  <a:srgbClr val="0083E6"/>
                </a:solidFill>
                <a:latin typeface="Calibri"/>
                <a:cs typeface="Calibri"/>
              </a:rPr>
              <a:t>ek</a:t>
            </a:r>
            <a:endParaRPr sz="3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850" spc="135">
                <a:solidFill>
                  <a:srgbClr val="FFFFFF"/>
                </a:solidFill>
                <a:latin typeface="Calibri"/>
                <a:cs typeface="Calibri"/>
              </a:rPr>
              <a:t>ICAI</a:t>
            </a:r>
            <a:r>
              <a:rPr dirty="0" sz="1850" spc="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8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55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dirty="0" sz="1850" spc="-1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dirty="0" sz="1850" spc="-1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00">
                <a:solidFill>
                  <a:srgbClr val="FFFFFF"/>
                </a:solidFill>
                <a:latin typeface="Calibri"/>
                <a:cs typeface="Calibri"/>
              </a:rPr>
              <a:t>FT</a:t>
            </a:r>
            <a:r>
              <a:rPr dirty="0" sz="1850" spc="2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8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55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05">
                <a:solidFill>
                  <a:srgbClr val="FFFFFF"/>
                </a:solidFill>
                <a:latin typeface="Calibri"/>
                <a:cs typeface="Calibri"/>
              </a:rPr>
              <a:t>NC</a:t>
            </a:r>
            <a:r>
              <a:rPr dirty="0" sz="1850" spc="-1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dirty="0" sz="1850" spc="-1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1850" spc="2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8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55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35">
                <a:solidFill>
                  <a:srgbClr val="FFFFFF"/>
                </a:solidFill>
                <a:latin typeface="Calibri"/>
                <a:cs typeface="Calibri"/>
              </a:rPr>
              <a:t>ICSI</a:t>
            </a:r>
            <a:r>
              <a:rPr dirty="0" sz="1850" spc="1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8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55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1850" spc="-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1850" spc="-1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850" spc="2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50" spc="1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50">
                <a:solidFill>
                  <a:srgbClr val="FFFFFF"/>
                </a:solidFill>
                <a:latin typeface="Calibri"/>
                <a:cs typeface="Calibri"/>
              </a:rPr>
              <a:t>0;</a:t>
            </a:r>
            <a:r>
              <a:rPr dirty="0" sz="1850" spc="-2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110">
                <a:solidFill>
                  <a:srgbClr val="FFFFFF"/>
                </a:solidFill>
                <a:latin typeface="Calibri"/>
                <a:cs typeface="Calibri"/>
              </a:rPr>
              <a:t>Others</a:t>
            </a:r>
            <a:r>
              <a:rPr dirty="0" sz="1850" spc="1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850" spc="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5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625" y="619125"/>
            <a:ext cx="1514475" cy="1514475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50010" y="5661533"/>
          <a:ext cx="16105505" cy="1249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16605"/>
              </a:tblGrid>
              <a:tr h="501650"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700" spc="-9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Others</a:t>
                      </a:r>
                      <a:r>
                        <a:rPr dirty="0" sz="2700" spc="-17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News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76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</a:tr>
              <a:tr h="747395">
                <a:tc>
                  <a:txBody>
                    <a:bodyPr/>
                    <a:lstStyle/>
                    <a:p>
                      <a:pPr algn="ctr" marL="3175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3200" spc="-25" b="1">
                          <a:latin typeface="Calibri"/>
                          <a:cs typeface="Calibri"/>
                        </a:rPr>
                        <a:t>NIL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790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</a:tbl>
          </a:graphicData>
        </a:graphic>
      </p:graphicFrame>
      <p:pic>
        <p:nvPicPr>
          <p:cNvPr id="6" name="object 6" descr="A blue circle with white text and stars and a white circle with a blue ribbon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64025" y="0"/>
            <a:ext cx="1323975" cy="1209675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312417" y="2297810"/>
          <a:ext cx="16146780" cy="2474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4260"/>
                <a:gridCol w="1637664"/>
                <a:gridCol w="2924810"/>
                <a:gridCol w="4048760"/>
                <a:gridCol w="6382385"/>
              </a:tblGrid>
              <a:tr h="1335405"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700" spc="-1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S.</a:t>
                      </a:r>
                      <a:r>
                        <a:rPr dirty="0" sz="2700" spc="-229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marL="410209" marR="194945" indent="-188595">
                        <a:lnSpc>
                          <a:spcPts val="3300"/>
                        </a:lnSpc>
                        <a:spcBef>
                          <a:spcPts val="95"/>
                        </a:spcBef>
                      </a:pP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Date</a:t>
                      </a:r>
                      <a:r>
                        <a:rPr dirty="0" sz="2700" spc="-18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of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Issue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700" spc="-1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Rules</a:t>
                      </a:r>
                      <a:r>
                        <a:rPr dirty="0" sz="2700" spc="-19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2700" spc="-3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circulars</a:t>
                      </a:r>
                      <a:endParaRPr sz="2700">
                        <a:latin typeface="Tahoma"/>
                        <a:cs typeface="Tahoma"/>
                      </a:endParaRPr>
                    </a:p>
                    <a:p>
                      <a:pPr marL="991235" marR="153670" indent="-800100">
                        <a:lnSpc>
                          <a:spcPts val="3229"/>
                        </a:lnSpc>
                        <a:spcBef>
                          <a:spcPts val="254"/>
                        </a:spcBef>
                      </a:pPr>
                      <a:r>
                        <a:rPr dirty="0" sz="27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2700" spc="-2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Notifications</a:t>
                      </a:r>
                      <a:r>
                        <a:rPr dirty="0" sz="2700" spc="-15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5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 </a:t>
                      </a:r>
                      <a:r>
                        <a:rPr dirty="0" sz="27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Order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476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700" spc="-7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Contents</a:t>
                      </a:r>
                      <a:r>
                        <a:rPr dirty="0" sz="2700" spc="-13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thereof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6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700" spc="-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Gist</a:t>
                      </a:r>
                      <a:r>
                        <a:rPr dirty="0" sz="2700" spc="-14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thereof</a:t>
                      </a:r>
                      <a:endParaRPr sz="2700">
                        <a:latin typeface="Tahoma"/>
                        <a:cs typeface="Tahoma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D5F"/>
                    </a:solidFill>
                  </a:tcPr>
                </a:tc>
              </a:tr>
              <a:tr h="1139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92979" y="4032503"/>
            <a:ext cx="9277985" cy="185610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0">
                <a:latin typeface="Tahoma"/>
                <a:cs typeface="Tahoma"/>
              </a:rPr>
              <a:t>THANK</a:t>
            </a:r>
            <a:r>
              <a:rPr dirty="0" sz="12000" spc="819">
                <a:latin typeface="Tahoma"/>
                <a:cs typeface="Tahoma"/>
              </a:rPr>
              <a:t> </a:t>
            </a:r>
            <a:r>
              <a:rPr dirty="0" sz="12000" spc="-25">
                <a:latin typeface="Tahoma"/>
                <a:cs typeface="Tahoma"/>
              </a:rPr>
              <a:t>YOU</a:t>
            </a:r>
            <a:endParaRPr sz="12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554459" y="6857936"/>
            <a:ext cx="3435985" cy="5772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dirty="0" u="heavy" sz="1800" spc="-2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2"/>
              </a:rPr>
              <a:t>bhuvana.r@akshayamcorporate.com</a:t>
            </a:r>
            <a:r>
              <a:rPr dirty="0" u="none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u="heavy" sz="1800" spc="-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3"/>
              </a:rPr>
              <a:t>Jayanth.v@akshayamcorporate.com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92979" y="6991413"/>
            <a:ext cx="5198110" cy="57658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  <a:tabLst>
                <a:tab pos="1102995" algn="l"/>
                <a:tab pos="1694814" algn="l"/>
                <a:tab pos="2378710" algn="l"/>
                <a:tab pos="4099560" algn="l"/>
              </a:tabLst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Flat</a:t>
            </a:r>
            <a:r>
              <a:rPr dirty="0" sz="1800" spc="65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No.7,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Door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No.10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Madhans,</a:t>
            </a:r>
            <a:r>
              <a:rPr dirty="0" sz="1800" spc="4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South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	Canal</a:t>
            </a:r>
            <a:r>
              <a:rPr dirty="0" sz="1800" spc="6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Bank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Road,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Mandavelipakkam,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Chennai</a:t>
            </a: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600028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53400" y="1590675"/>
            <a:ext cx="2533650" cy="243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2025-12-02T13:07:48Z</dcterms:created>
  <dcterms:modified xsi:type="dcterms:W3CDTF">2025-12-02T13:07:48Z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2025-12-02T00:00:00Z</vt:filetime>
  </property>
  <property fmtid="{D5CDD505-2E9C-101B-9397-08002B2CF9AE}" pid="3" name="LastSaved">
    <vt:filetime>2025-12-02T00:00:00Z</vt:filetime>
  </property>
  <property fmtid="{D5CDD505-2E9C-101B-9397-08002B2CF9AE}" pid="4" name="MSIP_Label_f5951936-1747-427c-8073-75a0925e3956_ContentBits">
    <vt:lpwstr>2</vt:lpwstr>
  </property>
  <property fmtid="{D5CDD505-2E9C-101B-9397-08002B2CF9AE}" pid="5" name="MSIP_Label_f5951936-1747-427c-8073-75a0925e3956_Enabled">
    <vt:lpwstr>true</vt:lpwstr>
  </property>
  <property fmtid="{D5CDD505-2E9C-101B-9397-08002B2CF9AE}" pid="6" name="MSIP_Label_f5951936-1747-427c-8073-75a0925e3956_Method">
    <vt:lpwstr>Standard</vt:lpwstr>
  </property>
  <property fmtid="{D5CDD505-2E9C-101B-9397-08002B2CF9AE}" pid="7" name="MSIP_Label_f5951936-1747-427c-8073-75a0925e3956_SiteId">
    <vt:lpwstr>42bee3df-9853-4f9a-b529-33f3156060a0</vt:lpwstr>
  </property>
</Properties>
</file>