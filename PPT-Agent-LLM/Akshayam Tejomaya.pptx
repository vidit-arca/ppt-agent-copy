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5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5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6896100"/>
            <a:ext cx="742950" cy="7429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8575" y="6886575"/>
            <a:ext cx="742950" cy="74295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1175" y="1428750"/>
            <a:ext cx="14992350" cy="75057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81200" y="1590675"/>
            <a:ext cx="14592300" cy="7105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2095500"/>
            <a:ext cx="13849350" cy="65341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92530" y="-3175"/>
            <a:ext cx="683894" cy="1703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4511" y="1665604"/>
            <a:ext cx="16377285" cy="3758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5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13.png"/><Relationship Id="rId4" Type="http://schemas.openxmlformats.org/officeDocument/2006/relationships/image" Target="../media/image2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mailto:bhuvana.r@akshayamcorporate.com" TargetMode="External"/><Relationship Id="rId3" Type="http://schemas.openxmlformats.org/officeDocument/2006/relationships/hyperlink" Target="mailto:Jayanth.v@akshayamcorporate.com" TargetMode="External"/><Relationship Id="rId4" Type="http://schemas.openxmlformats.org/officeDocument/2006/relationships/image" Target="../media/image2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525" y="28574"/>
            <a:ext cx="18278475" cy="10258425"/>
          </a:xfrm>
          <a:custGeom>
            <a:avLst/>
            <a:gdLst/>
            <a:ahLst/>
            <a:cxnLst/>
            <a:rect l="l" t="t" r="r" b="b"/>
            <a:pathLst>
              <a:path w="18278475" h="10258425">
                <a:moveTo>
                  <a:pt x="18278475" y="0"/>
                </a:moveTo>
                <a:lnTo>
                  <a:pt x="0" y="0"/>
                </a:lnTo>
                <a:lnTo>
                  <a:pt x="0" y="10258425"/>
                </a:lnTo>
                <a:lnTo>
                  <a:pt x="18278475" y="10258425"/>
                </a:lnTo>
                <a:lnTo>
                  <a:pt x="18278475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879319" y="8326119"/>
            <a:ext cx="2885440" cy="1546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950" spc="-1005" b="1">
                <a:solidFill>
                  <a:srgbClr val="0083E6"/>
                </a:solidFill>
                <a:latin typeface="Tahoma"/>
                <a:cs typeface="Tahoma"/>
              </a:rPr>
              <a:t>2</a:t>
            </a:r>
            <a:r>
              <a:rPr dirty="0" sz="9950" spc="-944" b="1">
                <a:solidFill>
                  <a:srgbClr val="0083E6"/>
                </a:solidFill>
                <a:latin typeface="Tahoma"/>
                <a:cs typeface="Tahoma"/>
              </a:rPr>
              <a:t>0</a:t>
            </a:r>
            <a:r>
              <a:rPr dirty="0" sz="9950" spc="-1019" b="1">
                <a:solidFill>
                  <a:srgbClr val="0083E6"/>
                </a:solidFill>
                <a:latin typeface="Tahoma"/>
                <a:cs typeface="Tahoma"/>
              </a:rPr>
              <a:t>2</a:t>
            </a:r>
            <a:r>
              <a:rPr dirty="0" sz="9950" spc="-20" b="1">
                <a:solidFill>
                  <a:srgbClr val="0083E6"/>
                </a:solidFill>
                <a:latin typeface="Tahoma"/>
                <a:cs typeface="Tahoma"/>
              </a:rPr>
              <a:t>5</a:t>
            </a:r>
            <a:endParaRPr sz="99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356465" y="8639754"/>
            <a:ext cx="2012950" cy="100520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1015"/>
              </a:spcBef>
            </a:pPr>
            <a:r>
              <a:rPr dirty="0" sz="2400" spc="-70" b="1">
                <a:solidFill>
                  <a:srgbClr val="FFFFFF"/>
                </a:solidFill>
                <a:latin typeface="Tahoma"/>
                <a:cs typeface="Tahoma"/>
              </a:rPr>
              <a:t>EditionNo…..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2450" spc="-495" b="1">
                <a:solidFill>
                  <a:srgbClr val="FFFFFF"/>
                </a:solidFill>
                <a:latin typeface="Tahoma"/>
                <a:cs typeface="Tahoma"/>
              </a:rPr>
              <a:t>…</a:t>
            </a:r>
            <a:r>
              <a:rPr dirty="0" sz="2450" spc="-405" b="1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2450" spc="-500" b="1">
                <a:solidFill>
                  <a:srgbClr val="FFFFFF"/>
                </a:solidFill>
                <a:latin typeface="Tahoma"/>
                <a:cs typeface="Tahoma"/>
              </a:rPr>
              <a:t>…</a:t>
            </a:r>
            <a:r>
              <a:rPr dirty="0" sz="2450" spc="95" b="1">
                <a:solidFill>
                  <a:srgbClr val="FFFFFF"/>
                </a:solidFill>
                <a:latin typeface="Tahoma"/>
                <a:cs typeface="Tahoma"/>
              </a:rPr>
              <a:t>.</a:t>
            </a:r>
            <a:r>
              <a:rPr dirty="0" sz="2450" spc="-16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2450" spc="5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450" spc="-2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50" spc="-155" b="1">
                <a:solidFill>
                  <a:srgbClr val="FFFFFF"/>
                </a:solidFill>
                <a:latin typeface="Tahoma"/>
                <a:cs typeface="Tahoma"/>
              </a:rPr>
              <a:t>…./….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4554200" y="8534400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15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359660">
              <a:lnSpc>
                <a:spcPct val="100000"/>
              </a:lnSpc>
              <a:spcBef>
                <a:spcPts val="90"/>
              </a:spcBef>
            </a:pPr>
            <a:r>
              <a:rPr dirty="0" spc="-745"/>
              <a:t>T</a:t>
            </a:r>
            <a:r>
              <a:rPr dirty="0" spc="-805"/>
              <a:t>E</a:t>
            </a:r>
            <a:r>
              <a:rPr dirty="0" spc="-770"/>
              <a:t>J</a:t>
            </a:r>
            <a:r>
              <a:rPr dirty="0" spc="-740"/>
              <a:t>O</a:t>
            </a:r>
            <a:r>
              <a:rPr dirty="0" spc="-735"/>
              <a:t>M</a:t>
            </a:r>
            <a:r>
              <a:rPr dirty="0" spc="-2435"/>
              <a:t>A</a:t>
            </a:r>
            <a:r>
              <a:rPr dirty="0" spc="-2555"/>
              <a:t>Y</a:t>
            </a:r>
            <a:r>
              <a:rPr dirty="0" spc="-105"/>
              <a:t>A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762000" y="723899"/>
            <a:ext cx="1447800" cy="1447800"/>
          </a:xfrm>
          <a:custGeom>
            <a:avLst/>
            <a:gdLst/>
            <a:ahLst/>
            <a:cxnLst/>
            <a:rect l="l" t="t" r="r" b="b"/>
            <a:pathLst>
              <a:path w="1447800" h="1447800">
                <a:moveTo>
                  <a:pt x="1447800" y="0"/>
                </a:moveTo>
                <a:lnTo>
                  <a:pt x="0" y="0"/>
                </a:lnTo>
                <a:lnTo>
                  <a:pt x="0" y="76200"/>
                </a:lnTo>
                <a:lnTo>
                  <a:pt x="0" y="1447800"/>
                </a:lnTo>
                <a:lnTo>
                  <a:pt x="76200" y="1447800"/>
                </a:lnTo>
                <a:lnTo>
                  <a:pt x="76200" y="76200"/>
                </a:lnTo>
                <a:lnTo>
                  <a:pt x="1447800" y="76200"/>
                </a:lnTo>
                <a:lnTo>
                  <a:pt x="1447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6896099"/>
            <a:ext cx="4448175" cy="33908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2600" y="4472241"/>
            <a:ext cx="12061825" cy="12496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100829" algn="l"/>
                <a:tab pos="7407275" algn="l"/>
                <a:tab pos="9180195" algn="l"/>
              </a:tabLst>
            </a:pPr>
            <a:r>
              <a:rPr dirty="0" spc="695">
                <a:solidFill>
                  <a:srgbClr val="FFFFFF"/>
                </a:solidFill>
              </a:rPr>
              <a:t>U</a:t>
            </a:r>
            <a:r>
              <a:rPr dirty="0" spc="730">
                <a:solidFill>
                  <a:srgbClr val="FFFFFF"/>
                </a:solidFill>
              </a:rPr>
              <a:t>p</a:t>
            </a:r>
            <a:r>
              <a:rPr dirty="0" spc="685">
                <a:solidFill>
                  <a:srgbClr val="FFFFFF"/>
                </a:solidFill>
              </a:rPr>
              <a:t>d</a:t>
            </a:r>
            <a:r>
              <a:rPr dirty="0" spc="630">
                <a:solidFill>
                  <a:srgbClr val="FFFFFF"/>
                </a:solidFill>
              </a:rPr>
              <a:t>a</a:t>
            </a:r>
            <a:r>
              <a:rPr dirty="0" spc="740">
                <a:solidFill>
                  <a:srgbClr val="FFFFFF"/>
                </a:solidFill>
              </a:rPr>
              <a:t>t</a:t>
            </a:r>
            <a:r>
              <a:rPr dirty="0" spc="715">
                <a:solidFill>
                  <a:srgbClr val="FFFFFF"/>
                </a:solidFill>
              </a:rPr>
              <a:t>e</a:t>
            </a:r>
            <a:r>
              <a:rPr dirty="0" spc="-15">
                <a:solidFill>
                  <a:srgbClr val="FFFFFF"/>
                </a:solidFill>
              </a:rPr>
              <a:t>s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dirty="0" spc="775">
                <a:solidFill>
                  <a:srgbClr val="FFFFFF"/>
                </a:solidFill>
              </a:rPr>
              <a:t>d</a:t>
            </a:r>
            <a:r>
              <a:rPr dirty="0" spc="705">
                <a:solidFill>
                  <a:srgbClr val="FFFFFF"/>
                </a:solidFill>
              </a:rPr>
              <a:t>u</a:t>
            </a:r>
            <a:r>
              <a:rPr dirty="0" spc="740">
                <a:solidFill>
                  <a:srgbClr val="FFFFFF"/>
                </a:solidFill>
              </a:rPr>
              <a:t>r</a:t>
            </a:r>
            <a:r>
              <a:rPr dirty="0" spc="755">
                <a:solidFill>
                  <a:srgbClr val="FFFFFF"/>
                </a:solidFill>
              </a:rPr>
              <a:t>i</a:t>
            </a:r>
            <a:r>
              <a:rPr dirty="0" spc="705">
                <a:solidFill>
                  <a:srgbClr val="FFFFFF"/>
                </a:solidFill>
              </a:rPr>
              <a:t>n</a:t>
            </a:r>
            <a:r>
              <a:rPr dirty="0" spc="-15">
                <a:solidFill>
                  <a:srgbClr val="FFFFFF"/>
                </a:solidFill>
              </a:rPr>
              <a:t>g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dirty="0" spc="580">
                <a:solidFill>
                  <a:srgbClr val="FFFFFF"/>
                </a:solidFill>
              </a:rPr>
              <a:t>t</a:t>
            </a:r>
            <a:r>
              <a:rPr dirty="0" spc="545">
                <a:solidFill>
                  <a:srgbClr val="FFFFFF"/>
                </a:solidFill>
              </a:rPr>
              <a:t>h</a:t>
            </a:r>
            <a:r>
              <a:rPr dirty="0" spc="-35">
                <a:solidFill>
                  <a:srgbClr val="FFFFFF"/>
                </a:solidFill>
              </a:rPr>
              <a:t>e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dirty="0" sz="8000"/>
              <a:t>W</a:t>
            </a:r>
            <a:r>
              <a:rPr dirty="0" sz="8000" spc="-695"/>
              <a:t> </a:t>
            </a:r>
            <a:r>
              <a:rPr dirty="0" sz="8000"/>
              <a:t>e</a:t>
            </a:r>
            <a:r>
              <a:rPr dirty="0" sz="8000" spc="-655"/>
              <a:t> </a:t>
            </a:r>
            <a:r>
              <a:rPr dirty="0" sz="8000"/>
              <a:t>e</a:t>
            </a:r>
            <a:r>
              <a:rPr dirty="0" sz="8000" spc="-725"/>
              <a:t> </a:t>
            </a:r>
            <a:r>
              <a:rPr dirty="0" sz="8000" spc="-50"/>
              <a:t>k</a:t>
            </a:r>
            <a:endParaRPr sz="8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400" y="0"/>
            <a:ext cx="13716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525" y="0"/>
            <a:ext cx="18278475" cy="10287000"/>
          </a:xfrm>
          <a:custGeom>
            <a:avLst/>
            <a:gdLst/>
            <a:ahLst/>
            <a:cxnLst/>
            <a:rect l="l" t="t" r="r" b="b"/>
            <a:pathLst>
              <a:path w="18278475" h="10287000">
                <a:moveTo>
                  <a:pt x="18278475" y="0"/>
                </a:moveTo>
                <a:lnTo>
                  <a:pt x="0" y="0"/>
                </a:lnTo>
                <a:lnTo>
                  <a:pt x="0" y="10287000"/>
                </a:lnTo>
                <a:lnTo>
                  <a:pt x="18278475" y="10287000"/>
                </a:lnTo>
                <a:lnTo>
                  <a:pt x="18278475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8575" y="3324225"/>
            <a:ext cx="10639425" cy="696277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829050" y="457200"/>
            <a:ext cx="10677525" cy="1685925"/>
            <a:chOff x="3829050" y="457200"/>
            <a:chExt cx="10677525" cy="168592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9050" y="457200"/>
              <a:ext cx="8410575" cy="16859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29975" y="457200"/>
              <a:ext cx="3276600" cy="16859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12665" y="479171"/>
            <a:ext cx="9506585" cy="94106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 spc="535" b="0">
                <a:latin typeface="Calibri"/>
                <a:cs typeface="Calibri"/>
              </a:rPr>
              <a:t>U</a:t>
            </a:r>
            <a:r>
              <a:rPr dirty="0" sz="6000" spc="470" b="0">
                <a:latin typeface="Calibri"/>
                <a:cs typeface="Calibri"/>
              </a:rPr>
              <a:t>p</a:t>
            </a:r>
            <a:r>
              <a:rPr dirty="0" sz="6000" spc="550" b="0">
                <a:latin typeface="Calibri"/>
                <a:cs typeface="Calibri"/>
              </a:rPr>
              <a:t>d</a:t>
            </a:r>
            <a:r>
              <a:rPr dirty="0" sz="6000" spc="455" b="0">
                <a:latin typeface="Calibri"/>
                <a:cs typeface="Calibri"/>
              </a:rPr>
              <a:t>a</a:t>
            </a:r>
            <a:r>
              <a:rPr dirty="0" sz="6000" spc="585" b="0">
                <a:latin typeface="Calibri"/>
                <a:cs typeface="Calibri"/>
              </a:rPr>
              <a:t>t</a:t>
            </a:r>
            <a:r>
              <a:rPr dirty="0" sz="6000" spc="500" b="0">
                <a:latin typeface="Calibri"/>
                <a:cs typeface="Calibri"/>
              </a:rPr>
              <a:t>e</a:t>
            </a:r>
            <a:r>
              <a:rPr dirty="0" sz="6000" spc="-5" b="0">
                <a:latin typeface="Calibri"/>
                <a:cs typeface="Calibri"/>
              </a:rPr>
              <a:t>s</a:t>
            </a:r>
            <a:r>
              <a:rPr dirty="0" sz="6000" spc="515" b="0">
                <a:latin typeface="Calibri"/>
                <a:cs typeface="Calibri"/>
              </a:rPr>
              <a:t> </a:t>
            </a:r>
            <a:r>
              <a:rPr dirty="0" sz="6000" spc="630" b="0">
                <a:latin typeface="Calibri"/>
                <a:cs typeface="Calibri"/>
              </a:rPr>
              <a:t>D</a:t>
            </a:r>
            <a:r>
              <a:rPr dirty="0" sz="6000" spc="645" b="0">
                <a:latin typeface="Calibri"/>
                <a:cs typeface="Calibri"/>
              </a:rPr>
              <a:t>u</a:t>
            </a:r>
            <a:r>
              <a:rPr dirty="0" sz="6000" spc="575" b="0">
                <a:latin typeface="Calibri"/>
                <a:cs typeface="Calibri"/>
              </a:rPr>
              <a:t>r</a:t>
            </a:r>
            <a:r>
              <a:rPr dirty="0" sz="6000" spc="700" b="0">
                <a:latin typeface="Calibri"/>
                <a:cs typeface="Calibri"/>
              </a:rPr>
              <a:t>i</a:t>
            </a:r>
            <a:r>
              <a:rPr dirty="0" sz="6000" spc="570" b="0">
                <a:latin typeface="Calibri"/>
                <a:cs typeface="Calibri"/>
              </a:rPr>
              <a:t>n</a:t>
            </a:r>
            <a:r>
              <a:rPr dirty="0" sz="6000" b="0">
                <a:latin typeface="Calibri"/>
                <a:cs typeface="Calibri"/>
              </a:rPr>
              <a:t>g</a:t>
            </a:r>
            <a:r>
              <a:rPr dirty="0" sz="6000" spc="600" b="0">
                <a:latin typeface="Calibri"/>
                <a:cs typeface="Calibri"/>
              </a:rPr>
              <a:t> </a:t>
            </a:r>
            <a:r>
              <a:rPr dirty="0" sz="6000" spc="509" b="0">
                <a:latin typeface="Calibri"/>
                <a:cs typeface="Calibri"/>
              </a:rPr>
              <a:t>t</a:t>
            </a:r>
            <a:r>
              <a:rPr dirty="0" sz="6000" spc="555" b="0">
                <a:latin typeface="Calibri"/>
                <a:cs typeface="Calibri"/>
              </a:rPr>
              <a:t>h</a:t>
            </a:r>
            <a:r>
              <a:rPr dirty="0" sz="6000" spc="-5" b="0">
                <a:latin typeface="Calibri"/>
                <a:cs typeface="Calibri"/>
              </a:rPr>
              <a:t>e</a:t>
            </a:r>
            <a:r>
              <a:rPr dirty="0" sz="6000" spc="445" b="0">
                <a:latin typeface="Calibri"/>
                <a:cs typeface="Calibri"/>
              </a:rPr>
              <a:t> </a:t>
            </a:r>
            <a:r>
              <a:rPr dirty="0" sz="6000">
                <a:solidFill>
                  <a:srgbClr val="FFFFFF"/>
                </a:solidFill>
              </a:rPr>
              <a:t>W</a:t>
            </a:r>
            <a:r>
              <a:rPr dirty="0" sz="6000" spc="-484">
                <a:solidFill>
                  <a:srgbClr val="FFFFFF"/>
                </a:solidFill>
              </a:rPr>
              <a:t> </a:t>
            </a:r>
            <a:r>
              <a:rPr dirty="0" sz="6000" spc="-40">
                <a:solidFill>
                  <a:srgbClr val="FFFFFF"/>
                </a:solidFill>
              </a:rPr>
              <a:t>e</a:t>
            </a:r>
            <a:r>
              <a:rPr dirty="0" sz="6000" spc="-560">
                <a:solidFill>
                  <a:srgbClr val="FFFFFF"/>
                </a:solidFill>
              </a:rPr>
              <a:t> </a:t>
            </a:r>
            <a:r>
              <a:rPr dirty="0" sz="6000" spc="-40">
                <a:solidFill>
                  <a:srgbClr val="FFFFFF"/>
                </a:solidFill>
              </a:rPr>
              <a:t>e</a:t>
            </a:r>
            <a:r>
              <a:rPr dirty="0" sz="6000" spc="-575">
                <a:solidFill>
                  <a:srgbClr val="FFFFFF"/>
                </a:solidFill>
              </a:rPr>
              <a:t> </a:t>
            </a:r>
            <a:r>
              <a:rPr dirty="0" sz="6000" spc="-50">
                <a:solidFill>
                  <a:srgbClr val="FFFFFF"/>
                </a:solidFill>
              </a:rPr>
              <a:t>k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638800" y="3429000"/>
            <a:ext cx="7048500" cy="619125"/>
          </a:xfrm>
          <a:custGeom>
            <a:avLst/>
            <a:gdLst/>
            <a:ahLst/>
            <a:cxnLst/>
            <a:rect l="l" t="t" r="r" b="b"/>
            <a:pathLst>
              <a:path w="7048500" h="619125">
                <a:moveTo>
                  <a:pt x="6945249" y="0"/>
                </a:moveTo>
                <a:lnTo>
                  <a:pt x="103250" y="0"/>
                </a:lnTo>
                <a:lnTo>
                  <a:pt x="63119" y="8127"/>
                </a:lnTo>
                <a:lnTo>
                  <a:pt x="30225" y="30225"/>
                </a:lnTo>
                <a:lnTo>
                  <a:pt x="8127" y="63119"/>
                </a:lnTo>
                <a:lnTo>
                  <a:pt x="0" y="103250"/>
                </a:lnTo>
                <a:lnTo>
                  <a:pt x="0" y="515874"/>
                </a:lnTo>
                <a:lnTo>
                  <a:pt x="8127" y="556005"/>
                </a:lnTo>
                <a:lnTo>
                  <a:pt x="30225" y="588899"/>
                </a:lnTo>
                <a:lnTo>
                  <a:pt x="63119" y="610997"/>
                </a:lnTo>
                <a:lnTo>
                  <a:pt x="103250" y="619125"/>
                </a:lnTo>
                <a:lnTo>
                  <a:pt x="6945249" y="619125"/>
                </a:lnTo>
                <a:lnTo>
                  <a:pt x="6985381" y="610997"/>
                </a:lnTo>
                <a:lnTo>
                  <a:pt x="7018274" y="588899"/>
                </a:lnTo>
                <a:lnTo>
                  <a:pt x="7040372" y="556005"/>
                </a:lnTo>
                <a:lnTo>
                  <a:pt x="7048500" y="515874"/>
                </a:lnTo>
                <a:lnTo>
                  <a:pt x="7048500" y="103250"/>
                </a:lnTo>
                <a:lnTo>
                  <a:pt x="7040372" y="63119"/>
                </a:lnTo>
                <a:lnTo>
                  <a:pt x="7018274" y="30225"/>
                </a:lnTo>
                <a:lnTo>
                  <a:pt x="6985381" y="8127"/>
                </a:lnTo>
                <a:lnTo>
                  <a:pt x="6945249" y="0"/>
                </a:lnTo>
                <a:close/>
              </a:path>
            </a:pathLst>
          </a:custGeom>
          <a:solidFill>
            <a:srgbClr val="0053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676900" y="43338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4"/>
                </a:lnTo>
                <a:lnTo>
                  <a:pt x="30607" y="30607"/>
                </a:lnTo>
                <a:lnTo>
                  <a:pt x="8254" y="64008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1"/>
                </a:lnTo>
                <a:lnTo>
                  <a:pt x="30607" y="597915"/>
                </a:lnTo>
                <a:lnTo>
                  <a:pt x="64008" y="620395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5"/>
                </a:lnTo>
                <a:lnTo>
                  <a:pt x="7017766" y="597915"/>
                </a:lnTo>
                <a:lnTo>
                  <a:pt x="7040245" y="564641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8"/>
                </a:lnTo>
                <a:lnTo>
                  <a:pt x="7017766" y="30607"/>
                </a:lnTo>
                <a:lnTo>
                  <a:pt x="6984492" y="8254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3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676900" y="52863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4"/>
                </a:lnTo>
                <a:lnTo>
                  <a:pt x="30607" y="30607"/>
                </a:lnTo>
                <a:lnTo>
                  <a:pt x="8254" y="64008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1"/>
                </a:lnTo>
                <a:lnTo>
                  <a:pt x="30607" y="597915"/>
                </a:lnTo>
                <a:lnTo>
                  <a:pt x="64008" y="620395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5"/>
                </a:lnTo>
                <a:lnTo>
                  <a:pt x="7017766" y="597915"/>
                </a:lnTo>
                <a:lnTo>
                  <a:pt x="7040245" y="564641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8"/>
                </a:lnTo>
                <a:lnTo>
                  <a:pt x="7017766" y="30607"/>
                </a:lnTo>
                <a:lnTo>
                  <a:pt x="6984492" y="8254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3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676900" y="62388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4"/>
                </a:lnTo>
                <a:lnTo>
                  <a:pt x="30607" y="30607"/>
                </a:lnTo>
                <a:lnTo>
                  <a:pt x="8254" y="64008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1"/>
                </a:lnTo>
                <a:lnTo>
                  <a:pt x="30607" y="597915"/>
                </a:lnTo>
                <a:lnTo>
                  <a:pt x="64008" y="620395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5"/>
                </a:lnTo>
                <a:lnTo>
                  <a:pt x="7017766" y="597915"/>
                </a:lnTo>
                <a:lnTo>
                  <a:pt x="7040245" y="564641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8"/>
                </a:lnTo>
                <a:lnTo>
                  <a:pt x="7017766" y="30607"/>
                </a:lnTo>
                <a:lnTo>
                  <a:pt x="6984492" y="8254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3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676900" y="71913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5"/>
                </a:lnTo>
                <a:lnTo>
                  <a:pt x="30607" y="30606"/>
                </a:lnTo>
                <a:lnTo>
                  <a:pt x="8254" y="64007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2"/>
                </a:lnTo>
                <a:lnTo>
                  <a:pt x="30607" y="597916"/>
                </a:lnTo>
                <a:lnTo>
                  <a:pt x="64008" y="620394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4"/>
                </a:lnTo>
                <a:lnTo>
                  <a:pt x="7017766" y="597916"/>
                </a:lnTo>
                <a:lnTo>
                  <a:pt x="7040245" y="564642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7"/>
                </a:lnTo>
                <a:lnTo>
                  <a:pt x="7017766" y="30606"/>
                </a:lnTo>
                <a:lnTo>
                  <a:pt x="6984492" y="8255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3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676900" y="81438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5"/>
                </a:lnTo>
                <a:lnTo>
                  <a:pt x="30607" y="30606"/>
                </a:lnTo>
                <a:lnTo>
                  <a:pt x="8254" y="64007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1"/>
                </a:lnTo>
                <a:lnTo>
                  <a:pt x="30607" y="597916"/>
                </a:lnTo>
                <a:lnTo>
                  <a:pt x="64008" y="620394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4"/>
                </a:lnTo>
                <a:lnTo>
                  <a:pt x="7017766" y="597916"/>
                </a:lnTo>
                <a:lnTo>
                  <a:pt x="7040245" y="564641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7"/>
                </a:lnTo>
                <a:lnTo>
                  <a:pt x="7017766" y="30606"/>
                </a:lnTo>
                <a:lnTo>
                  <a:pt x="6984492" y="8255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3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676900" y="90963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29"/>
                </a:lnTo>
                <a:lnTo>
                  <a:pt x="30607" y="30683"/>
                </a:lnTo>
                <a:lnTo>
                  <a:pt x="8254" y="63995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54"/>
                </a:lnTo>
                <a:lnTo>
                  <a:pt x="30607" y="597954"/>
                </a:lnTo>
                <a:lnTo>
                  <a:pt x="64008" y="620420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420"/>
                </a:lnTo>
                <a:lnTo>
                  <a:pt x="7017766" y="597954"/>
                </a:lnTo>
                <a:lnTo>
                  <a:pt x="7040245" y="564654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3995"/>
                </a:lnTo>
                <a:lnTo>
                  <a:pt x="7017766" y="30683"/>
                </a:lnTo>
                <a:lnTo>
                  <a:pt x="6984492" y="8229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39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0" y="0"/>
            <a:ext cx="18300700" cy="1417955"/>
            <a:chOff x="0" y="0"/>
            <a:chExt cx="18300700" cy="1417955"/>
          </a:xfrm>
        </p:grpSpPr>
        <p:sp>
          <p:nvSpPr>
            <p:cNvPr id="16" name="object 16" descr=""/>
            <p:cNvSpPr/>
            <p:nvPr/>
          </p:nvSpPr>
          <p:spPr>
            <a:xfrm>
              <a:off x="0" y="1276350"/>
              <a:ext cx="4124325" cy="123825"/>
            </a:xfrm>
            <a:custGeom>
              <a:avLst/>
              <a:gdLst/>
              <a:ahLst/>
              <a:cxnLst/>
              <a:rect l="l" t="t" r="r" b="b"/>
              <a:pathLst>
                <a:path w="4124325" h="123825">
                  <a:moveTo>
                    <a:pt x="4124071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4124071" y="123825"/>
                  </a:lnTo>
                  <a:lnTo>
                    <a:pt x="41240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287" y="1281049"/>
              <a:ext cx="4124325" cy="123825"/>
            </a:xfrm>
            <a:custGeom>
              <a:avLst/>
              <a:gdLst/>
              <a:ahLst/>
              <a:cxnLst/>
              <a:rect l="l" t="t" r="r" b="b"/>
              <a:pathLst>
                <a:path w="4124325" h="123825">
                  <a:moveTo>
                    <a:pt x="0" y="123825"/>
                  </a:moveTo>
                  <a:lnTo>
                    <a:pt x="4124007" y="123825"/>
                  </a:lnTo>
                  <a:lnTo>
                    <a:pt x="4124007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411325" y="1257300"/>
              <a:ext cx="3876675" cy="123825"/>
            </a:xfrm>
            <a:custGeom>
              <a:avLst/>
              <a:gdLst/>
              <a:ahLst/>
              <a:cxnLst/>
              <a:rect l="l" t="t" r="r" b="b"/>
              <a:pathLst>
                <a:path w="3876675" h="123825">
                  <a:moveTo>
                    <a:pt x="3876294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3876294" y="123825"/>
                  </a:lnTo>
                  <a:lnTo>
                    <a:pt x="38762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444726" y="1261999"/>
              <a:ext cx="3843654" cy="123825"/>
            </a:xfrm>
            <a:custGeom>
              <a:avLst/>
              <a:gdLst/>
              <a:ahLst/>
              <a:cxnLst/>
              <a:rect l="l" t="t" r="r" b="b"/>
              <a:pathLst>
                <a:path w="3843655" h="123825">
                  <a:moveTo>
                    <a:pt x="3843273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3843273" y="1238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21200" y="0"/>
              <a:ext cx="1066800" cy="126682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49775" y="0"/>
              <a:ext cx="1038225" cy="131445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4570095" y="2128773"/>
            <a:ext cx="9279255" cy="729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650811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2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documents</a:t>
            </a:r>
            <a:r>
              <a:rPr dirty="0" sz="2400" spc="3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enumerates</a:t>
            </a:r>
            <a:r>
              <a:rPr dirty="0" sz="24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various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updates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during</a:t>
            </a:r>
            <a:r>
              <a:rPr dirty="0" sz="2400" spc="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week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endParaRPr sz="2400">
              <a:latin typeface="Calibri"/>
              <a:cs typeface="Calibri"/>
            </a:endParaRPr>
          </a:p>
          <a:p>
            <a:pPr marL="1339850">
              <a:lnSpc>
                <a:spcPct val="100000"/>
              </a:lnSpc>
              <a:spcBef>
                <a:spcPts val="120"/>
              </a:spcBef>
            </a:pPr>
            <a:r>
              <a:rPr dirty="0" sz="2400" spc="-125">
                <a:solidFill>
                  <a:srgbClr val="FFFFFF"/>
                </a:solidFill>
                <a:latin typeface="Calibri"/>
                <a:cs typeface="Calibri"/>
              </a:rPr>
              <a:t>…………….to</a:t>
            </a:r>
            <a:r>
              <a:rPr dirty="0" sz="2400" spc="-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………….provided</a:t>
            </a:r>
            <a:r>
              <a:rPr dirty="0" sz="2400" spc="-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2400" spc="3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heads</a:t>
            </a:r>
            <a:r>
              <a:rPr dirty="0" sz="2400" spc="3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366520" marR="3623310" indent="-38100">
              <a:lnSpc>
                <a:spcPct val="250199"/>
              </a:lnSpc>
              <a:spcBef>
                <a:spcPts val="2045"/>
              </a:spcBef>
            </a:pPr>
            <a:r>
              <a:rPr dirty="0" sz="2100" spc="-120" b="1">
                <a:solidFill>
                  <a:srgbClr val="FFFFFF"/>
                </a:solidFill>
                <a:latin typeface="Tahoma"/>
                <a:cs typeface="Tahoma"/>
              </a:rPr>
              <a:t>CompaniesAct,</a:t>
            </a:r>
            <a:r>
              <a:rPr dirty="0" sz="2100" spc="-1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Tahoma"/>
                <a:cs typeface="Tahoma"/>
              </a:rPr>
              <a:t>2013. </a:t>
            </a:r>
            <a:r>
              <a:rPr dirty="0" sz="2100" spc="-125" b="1">
                <a:solidFill>
                  <a:srgbClr val="FFFFFF"/>
                </a:solidFill>
                <a:latin typeface="Tahoma"/>
                <a:cs typeface="Tahoma"/>
              </a:rPr>
              <a:t>SecuritiesExchangesBoardof</a:t>
            </a:r>
            <a:r>
              <a:rPr dirty="0" sz="210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India</a:t>
            </a:r>
            <a:r>
              <a:rPr dirty="0" sz="21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.</a:t>
            </a:r>
            <a:endParaRPr sz="21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</a:pPr>
            <a:endParaRPr sz="21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100">
              <a:latin typeface="Franklin Gothic Medium"/>
              <a:cs typeface="Franklin Gothic Medium"/>
            </a:endParaRPr>
          </a:p>
          <a:p>
            <a:pPr marL="1366520">
              <a:lnSpc>
                <a:spcPct val="100000"/>
              </a:lnSpc>
            </a:pPr>
            <a:r>
              <a:rPr dirty="0" sz="2100" spc="-95" b="1">
                <a:solidFill>
                  <a:srgbClr val="FFFFFF"/>
                </a:solidFill>
                <a:latin typeface="Tahoma"/>
                <a:cs typeface="Tahoma"/>
              </a:rPr>
              <a:t>ReserveBankof</a:t>
            </a:r>
            <a:r>
              <a:rPr dirty="0" sz="210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India.</a:t>
            </a:r>
            <a:endParaRPr sz="2100">
              <a:latin typeface="Tahoma"/>
              <a:cs typeface="Tahoma"/>
            </a:endParaRPr>
          </a:p>
          <a:p>
            <a:pPr marL="1443355" marR="2493010" indent="-76835">
              <a:lnSpc>
                <a:spcPct val="241299"/>
              </a:lnSpc>
              <a:spcBef>
                <a:spcPts val="1425"/>
              </a:spcBef>
            </a:pPr>
            <a:r>
              <a:rPr dirty="0" sz="2100" spc="-160" b="1">
                <a:solidFill>
                  <a:srgbClr val="FFFFFF"/>
                </a:solidFill>
                <a:latin typeface="Tahoma"/>
                <a:cs typeface="Tahoma"/>
              </a:rPr>
              <a:t>InternationalFinancialServices</a:t>
            </a:r>
            <a:r>
              <a:rPr dirty="0" sz="2100" spc="-2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20" b="1">
                <a:solidFill>
                  <a:srgbClr val="FFFFFF"/>
                </a:solidFill>
                <a:latin typeface="Tahoma"/>
                <a:cs typeface="Tahoma"/>
              </a:rPr>
              <a:t>Centre</a:t>
            </a:r>
            <a:r>
              <a:rPr dirty="0" sz="2100" spc="-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(IFSC). </a:t>
            </a:r>
            <a:r>
              <a:rPr dirty="0" sz="2100" spc="-135" b="1">
                <a:solidFill>
                  <a:srgbClr val="FFFFFF"/>
                </a:solidFill>
                <a:latin typeface="Tahoma"/>
                <a:cs typeface="Tahoma"/>
              </a:rPr>
              <a:t>InsolvencyandBankruptcyCode,</a:t>
            </a:r>
            <a:r>
              <a:rPr dirty="0" sz="210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Tahoma"/>
                <a:cs typeface="Tahoma"/>
              </a:rPr>
              <a:t>2016</a:t>
            </a:r>
            <a:endParaRPr sz="2100">
              <a:latin typeface="Tahoma"/>
              <a:cs typeface="Tahoma"/>
            </a:endParaRPr>
          </a:p>
          <a:p>
            <a:pPr marL="1366520" marR="4410710">
              <a:lnSpc>
                <a:spcPct val="297900"/>
              </a:lnSpc>
            </a:pPr>
            <a:r>
              <a:rPr dirty="0" sz="2100" spc="-114" b="1">
                <a:solidFill>
                  <a:srgbClr val="FFFFFF"/>
                </a:solidFill>
                <a:latin typeface="Tahoma"/>
                <a:cs typeface="Tahoma"/>
              </a:rPr>
              <a:t>AlternativeInvestmentFunds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Miscellaneous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9049"/>
            <a:ext cx="18288000" cy="10267950"/>
          </a:xfrm>
          <a:custGeom>
            <a:avLst/>
            <a:gdLst/>
            <a:ahLst/>
            <a:cxnLst/>
            <a:rect l="l" t="t" r="r" b="b"/>
            <a:pathLst>
              <a:path w="18288000" h="10267950">
                <a:moveTo>
                  <a:pt x="18288000" y="0"/>
                </a:moveTo>
                <a:lnTo>
                  <a:pt x="0" y="0"/>
                </a:lnTo>
                <a:lnTo>
                  <a:pt x="0" y="10267950"/>
                </a:lnTo>
                <a:lnTo>
                  <a:pt x="18288000" y="1026795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2673" rIns="0" bIns="0" rtlCol="0" vert="horz">
            <a:spAutoFit/>
          </a:bodyPr>
          <a:lstStyle/>
          <a:p>
            <a:pPr marL="206375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1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44775" y="638702"/>
            <a:ext cx="7212330" cy="1355725"/>
          </a:xfrm>
          <a:prstGeom prst="rect">
            <a:avLst/>
          </a:prstGeom>
        </p:spPr>
        <p:txBody>
          <a:bodyPr wrap="square" lIns="0" tIns="19431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1530"/>
              </a:spcBef>
              <a:tabLst>
                <a:tab pos="2607310" algn="l"/>
                <a:tab pos="3462020" algn="l"/>
                <a:tab pos="4491355" algn="l"/>
              </a:tabLst>
            </a:pPr>
            <a:r>
              <a:rPr dirty="0" sz="3350" spc="-10" b="1">
                <a:solidFill>
                  <a:srgbClr val="0083E6"/>
                </a:solidFill>
                <a:latin typeface="Calibri"/>
                <a:cs typeface="Calibri"/>
              </a:rPr>
              <a:t>Companies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-25" b="1">
                <a:solidFill>
                  <a:srgbClr val="0083E6"/>
                </a:solidFill>
                <a:latin typeface="Calibri"/>
                <a:cs typeface="Calibri"/>
              </a:rPr>
              <a:t>Act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-20" b="1">
                <a:solidFill>
                  <a:srgbClr val="0083E6"/>
                </a:solidFill>
                <a:latin typeface="Calibri"/>
                <a:cs typeface="Calibri"/>
              </a:rPr>
              <a:t>2013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-</a:t>
            </a:r>
            <a:r>
              <a:rPr dirty="0" sz="3350" spc="36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25" b="1">
                <a:solidFill>
                  <a:srgbClr val="0083E6"/>
                </a:solidFill>
                <a:latin typeface="Calibri"/>
                <a:cs typeface="Calibri"/>
              </a:rPr>
              <a:t>MCA</a:t>
            </a:r>
            <a:endParaRPr sz="3350">
              <a:latin typeface="Calibri"/>
              <a:cs typeface="Calibri"/>
            </a:endParaRPr>
          </a:p>
          <a:p>
            <a:pPr marL="66675" marR="5080" indent="-53975">
              <a:lnSpc>
                <a:spcPts val="2100"/>
              </a:lnSpc>
              <a:spcBef>
                <a:spcPts val="880"/>
              </a:spcBef>
            </a:pPr>
            <a:r>
              <a:rPr dirty="0" sz="1800" spc="65">
                <a:solidFill>
                  <a:srgbClr val="FFFFFF"/>
                </a:solidFill>
                <a:latin typeface="Calibri"/>
                <a:cs typeface="Calibri"/>
              </a:rPr>
              <a:t>Notifications</a:t>
            </a:r>
            <a:r>
              <a:rPr dirty="0" sz="1800" spc="3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dirty="0" sz="1800" spc="48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0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00" spc="4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Orders</a:t>
            </a:r>
            <a:r>
              <a:rPr dirty="0" sz="1800" spc="4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0; </a:t>
            </a:r>
            <a:r>
              <a:rPr dirty="0" sz="1800" spc="55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00" spc="85">
                <a:solidFill>
                  <a:srgbClr val="FFFFFF"/>
                </a:solidFill>
                <a:latin typeface="Calibri"/>
                <a:cs typeface="Calibri"/>
              </a:rPr>
              <a:t>Notice-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5" y="619125"/>
            <a:ext cx="1514475" cy="1514475"/>
          </a:xfrm>
          <a:prstGeom prst="rect">
            <a:avLst/>
          </a:prstGeom>
        </p:spPr>
      </p:pic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345819" y="8247888"/>
          <a:ext cx="16064230" cy="1249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5330"/>
              </a:tblGrid>
              <a:tr h="502920">
                <a:tc>
                  <a:txBody>
                    <a:bodyPr/>
                    <a:lstStyle/>
                    <a:p>
                      <a:pPr algn="ctr" marL="400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4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MCA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 marL="7937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40200" y="0"/>
            <a:ext cx="1447800" cy="1447800"/>
          </a:xfrm>
          <a:prstGeom prst="rect">
            <a:avLst/>
          </a:prstGeom>
        </p:spPr>
      </p:pic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266063" y="2326385"/>
          <a:ext cx="16146780" cy="2472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260"/>
                <a:gridCol w="1637664"/>
                <a:gridCol w="2924810"/>
                <a:gridCol w="4048760"/>
                <a:gridCol w="6382385"/>
              </a:tblGrid>
              <a:tr h="133540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4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ts val="3110"/>
                        </a:lnSpc>
                      </a:pPr>
                      <a:r>
                        <a:rPr dirty="0" sz="2700" spc="-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2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414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700" spc="-6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Rules/</a:t>
                      </a:r>
                      <a:r>
                        <a:rPr dirty="0" sz="2700" spc="-2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998855" marR="185420" indent="-802005">
                        <a:lnSpc>
                          <a:spcPts val="3229"/>
                        </a:lnSpc>
                        <a:spcBef>
                          <a:spcPts val="334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2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14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spc="-3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2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01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3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1137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9049"/>
            <a:ext cx="18288000" cy="10267950"/>
          </a:xfrm>
          <a:custGeom>
            <a:avLst/>
            <a:gdLst/>
            <a:ahLst/>
            <a:cxnLst/>
            <a:rect l="l" t="t" r="r" b="b"/>
            <a:pathLst>
              <a:path w="18288000" h="10267950">
                <a:moveTo>
                  <a:pt x="18288000" y="0"/>
                </a:moveTo>
                <a:lnTo>
                  <a:pt x="0" y="0"/>
                </a:lnTo>
                <a:lnTo>
                  <a:pt x="0" y="10267950"/>
                </a:lnTo>
                <a:lnTo>
                  <a:pt x="18288000" y="1026795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2989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2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7785" y="430097"/>
            <a:ext cx="6433185" cy="1541145"/>
          </a:xfrm>
          <a:prstGeom prst="rect">
            <a:avLst/>
          </a:prstGeom>
        </p:spPr>
        <p:txBody>
          <a:bodyPr wrap="square" lIns="0" tIns="292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00"/>
              </a:spcBef>
              <a:tabLst>
                <a:tab pos="1120140" algn="l"/>
                <a:tab pos="2677160" algn="l"/>
                <a:tab pos="3522979" algn="l"/>
              </a:tabLst>
            </a:pPr>
            <a:r>
              <a:rPr dirty="0" sz="3350" spc="-20" b="1">
                <a:solidFill>
                  <a:srgbClr val="0083E6"/>
                </a:solidFill>
                <a:latin typeface="Calibri"/>
                <a:cs typeface="Calibri"/>
              </a:rPr>
              <a:t>SEBI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-10" b="1">
                <a:solidFill>
                  <a:srgbClr val="0083E6"/>
                </a:solidFill>
                <a:latin typeface="Calibri"/>
                <a:cs typeface="Calibri"/>
              </a:rPr>
              <a:t>during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-25" b="1">
                <a:solidFill>
                  <a:srgbClr val="0083E6"/>
                </a:solidFill>
                <a:latin typeface="Calibri"/>
                <a:cs typeface="Calibri"/>
              </a:rPr>
              <a:t>the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-20" b="1">
                <a:solidFill>
                  <a:srgbClr val="0083E6"/>
                </a:solidFill>
                <a:latin typeface="Calibri"/>
                <a:cs typeface="Calibri"/>
              </a:rPr>
              <a:t>week</a:t>
            </a:r>
            <a:endParaRPr sz="3350">
              <a:latin typeface="Calibri"/>
              <a:cs typeface="Calibri"/>
            </a:endParaRPr>
          </a:p>
          <a:p>
            <a:pPr marL="25400" marR="5080">
              <a:lnSpc>
                <a:spcPct val="101499"/>
              </a:lnSpc>
              <a:spcBef>
                <a:spcPts val="1200"/>
              </a:spcBef>
              <a:tabLst>
                <a:tab pos="2947670" algn="l"/>
                <a:tab pos="3674745" algn="l"/>
              </a:tabLst>
            </a:pPr>
            <a:r>
              <a:rPr dirty="0" sz="1850" spc="75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3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70">
                <a:solidFill>
                  <a:srgbClr val="FFFFFF"/>
                </a:solidFill>
                <a:latin typeface="Calibri"/>
                <a:cs typeface="Calibri"/>
              </a:rPr>
              <a:t>Consultation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50" spc="45">
                <a:solidFill>
                  <a:srgbClr val="FFFFFF"/>
                </a:solidFill>
                <a:latin typeface="Calibri"/>
                <a:cs typeface="Calibri"/>
              </a:rPr>
              <a:t>Paper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dirty="0" sz="185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Reg</a:t>
            </a:r>
            <a:r>
              <a:rPr dirty="0" sz="185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75">
                <a:solidFill>
                  <a:srgbClr val="FFFFFF"/>
                </a:solidFill>
                <a:latin typeface="Calibri"/>
                <a:cs typeface="Calibri"/>
              </a:rPr>
              <a:t>ulation</a:t>
            </a:r>
            <a:r>
              <a:rPr dirty="0" sz="1850" spc="9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Master </a:t>
            </a: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Circular</a:t>
            </a:r>
            <a:r>
              <a:rPr dirty="0" sz="1850" spc="3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50" spc="4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dirty="0" sz="1850" spc="4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5" y="619125"/>
            <a:ext cx="1514475" cy="1514475"/>
          </a:xfrm>
          <a:prstGeom prst="rect">
            <a:avLst/>
          </a:prstGeom>
        </p:spPr>
      </p:pic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483613" y="2232532"/>
          <a:ext cx="16137255" cy="314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1720"/>
                <a:gridCol w="1633220"/>
                <a:gridCol w="2685415"/>
                <a:gridCol w="4194175"/>
                <a:gridCol w="6473825"/>
              </a:tblGrid>
              <a:tr h="17373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46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3110"/>
                        </a:lnSpc>
                      </a:pPr>
                      <a:r>
                        <a:rPr dirty="0" sz="2700" spc="-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2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285750">
                        <a:lnSpc>
                          <a:spcPct val="99600"/>
                        </a:lnSpc>
                        <a:spcBef>
                          <a:spcPts val="415"/>
                        </a:spcBef>
                      </a:pPr>
                      <a:r>
                        <a:rPr dirty="0" sz="27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4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6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r>
                        <a:rPr dirty="0" sz="2700" spc="-1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6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14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spc="-1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2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2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140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49725" y="0"/>
            <a:ext cx="1438275" cy="1390650"/>
          </a:xfrm>
          <a:prstGeom prst="rect">
            <a:avLst/>
          </a:prstGeom>
        </p:spPr>
      </p:pic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317371" y="8631808"/>
          <a:ext cx="16466185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77285"/>
              </a:tblGrid>
              <a:tr h="502920">
                <a:tc>
                  <a:txBody>
                    <a:bodyPr/>
                    <a:lstStyle/>
                    <a:p>
                      <a:pPr algn="ctr" marL="1473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434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SEBI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 algn="ctr" marL="17081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34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2530" y="0"/>
            <a:ext cx="489584" cy="11239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63545" y="147961"/>
            <a:ext cx="7250430" cy="101346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70"/>
              </a:spcBef>
              <a:tabLst>
                <a:tab pos="899160" algn="l"/>
                <a:tab pos="2456815" algn="l"/>
                <a:tab pos="3303904" algn="l"/>
              </a:tabLst>
            </a:pPr>
            <a:r>
              <a:rPr dirty="0" sz="3350" spc="55" b="1">
                <a:solidFill>
                  <a:srgbClr val="0083E6"/>
                </a:solidFill>
                <a:latin typeface="Calibri"/>
                <a:cs typeface="Calibri"/>
              </a:rPr>
              <a:t>RBI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-10" b="1">
                <a:solidFill>
                  <a:srgbClr val="0083E6"/>
                </a:solidFill>
                <a:latin typeface="Calibri"/>
                <a:cs typeface="Calibri"/>
              </a:rPr>
              <a:t>during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-25" b="1">
                <a:solidFill>
                  <a:srgbClr val="0083E6"/>
                </a:solidFill>
                <a:latin typeface="Calibri"/>
                <a:cs typeface="Calibri"/>
              </a:rPr>
              <a:t>the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-20" b="1">
                <a:solidFill>
                  <a:srgbClr val="0083E6"/>
                </a:solidFill>
                <a:latin typeface="Calibri"/>
                <a:cs typeface="Calibri"/>
              </a:rPr>
              <a:t>week</a:t>
            </a:r>
            <a:endParaRPr sz="3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3811270" algn="l"/>
              </a:tabLst>
            </a:pP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Notifications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 spc="85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r>
              <a:rPr dirty="0" sz="1850" spc="6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Directions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	–0;</a:t>
            </a:r>
            <a:r>
              <a:rPr dirty="0" sz="185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95">
                <a:solidFill>
                  <a:srgbClr val="FFFFFF"/>
                </a:solidFill>
                <a:latin typeface="Calibri"/>
                <a:cs typeface="Calibri"/>
              </a:rPr>
              <a:t>  -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50" spc="11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 spc="105">
                <a:solidFill>
                  <a:srgbClr val="FFFFFF"/>
                </a:solidFill>
                <a:latin typeface="Calibri"/>
                <a:cs typeface="Calibri"/>
              </a:rPr>
              <a:t>Release-</a:t>
            </a:r>
            <a:r>
              <a:rPr dirty="0" sz="1850" spc="-5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23825"/>
            <a:ext cx="1514475" cy="1514475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332611" y="1665604"/>
          <a:ext cx="16377285" cy="3758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/>
                <a:gridCol w="1661160"/>
                <a:gridCol w="2744469"/>
                <a:gridCol w="4351655"/>
                <a:gridCol w="6451600"/>
              </a:tblGrid>
              <a:tr h="1325245">
                <a:tc>
                  <a:txBody>
                    <a:bodyPr/>
                    <a:lstStyle/>
                    <a:p>
                      <a:pPr marL="172085">
                        <a:lnSpc>
                          <a:spcPts val="2880"/>
                        </a:lnSpc>
                      </a:pPr>
                      <a:r>
                        <a:rPr dirty="0" sz="2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</a:t>
                      </a:r>
                      <a:r>
                        <a:rPr dirty="0" sz="2700" spc="-9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ts val="3080"/>
                        </a:lnSpc>
                      </a:pPr>
                      <a:r>
                        <a:rPr dirty="0" sz="27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r>
                        <a:rPr dirty="0" sz="27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endParaRPr sz="2700">
                        <a:latin typeface="Calibri"/>
                        <a:cs typeface="Calibri"/>
                      </a:endParaRPr>
                    </a:p>
                    <a:p>
                      <a:pPr marL="475615">
                        <a:lnSpc>
                          <a:spcPts val="3235"/>
                        </a:lnSpc>
                      </a:pP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Issue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3025">
                        <a:lnSpc>
                          <a:spcPts val="2955"/>
                        </a:lnSpc>
                      </a:pP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Rules</a:t>
                      </a:r>
                      <a:r>
                        <a:rPr dirty="0" sz="2700" spc="-2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27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circulars</a:t>
                      </a:r>
                      <a:r>
                        <a:rPr dirty="0" sz="2700" spc="-8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endParaRPr sz="2700">
                        <a:latin typeface="Calibri"/>
                        <a:cs typeface="Calibri"/>
                      </a:endParaRPr>
                    </a:p>
                    <a:p>
                      <a:pPr algn="ctr" marL="408940" marR="319405">
                        <a:lnSpc>
                          <a:spcPts val="3229"/>
                        </a:lnSpc>
                        <a:spcBef>
                          <a:spcPts val="180"/>
                        </a:spcBef>
                      </a:pPr>
                      <a:r>
                        <a:rPr dirty="0" sz="27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Notifications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Order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990600">
                        <a:lnSpc>
                          <a:spcPts val="2880"/>
                        </a:lnSpc>
                      </a:pPr>
                      <a:r>
                        <a:rPr dirty="0" sz="27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Contents</a:t>
                      </a:r>
                      <a:r>
                        <a:rPr dirty="0" sz="27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thereof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ts val="2880"/>
                        </a:lnSpc>
                      </a:pPr>
                      <a:r>
                        <a:rPr dirty="0" sz="27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Gist</a:t>
                      </a:r>
                      <a:r>
                        <a:rPr dirty="0" sz="2700" spc="-1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thereof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1216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  <a:tr h="1216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45000" y="0"/>
            <a:ext cx="1143000" cy="1390650"/>
          </a:xfrm>
          <a:prstGeom prst="rect">
            <a:avLst/>
          </a:prstGeom>
        </p:spPr>
      </p:pic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348486" y="8887079"/>
          <a:ext cx="16361410" cy="1138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72510"/>
              </a:tblGrid>
              <a:tr h="569595">
                <a:tc>
                  <a:txBody>
                    <a:bodyPr/>
                    <a:lstStyle/>
                    <a:p>
                      <a:pPr algn="ctr" marL="1530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4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RBI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marL="9906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2700" spc="-25" b="1">
                          <a:latin typeface="Tahoma"/>
                          <a:cs typeface="Tahoma"/>
                        </a:rPr>
                        <a:t>NIL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9801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85085" y="220780"/>
            <a:ext cx="7716520" cy="1466850"/>
          </a:xfrm>
          <a:prstGeom prst="rect">
            <a:avLst/>
          </a:prstGeom>
        </p:spPr>
        <p:txBody>
          <a:bodyPr wrap="square" lIns="0" tIns="255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15"/>
              </a:spcBef>
            </a:pP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IFSC</a:t>
            </a:r>
            <a:r>
              <a:rPr dirty="0" sz="3350" spc="-2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during</a:t>
            </a:r>
            <a:r>
              <a:rPr dirty="0" sz="3350" spc="-2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the</a:t>
            </a:r>
            <a:r>
              <a:rPr dirty="0" sz="3350" spc="20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20" b="1">
                <a:solidFill>
                  <a:srgbClr val="0083E6"/>
                </a:solidFill>
                <a:latin typeface="Calibri"/>
                <a:cs typeface="Calibri"/>
              </a:rPr>
              <a:t>week</a:t>
            </a:r>
            <a:endParaRPr sz="3350">
              <a:latin typeface="Calibri"/>
              <a:cs typeface="Calibri"/>
            </a:endParaRPr>
          </a:p>
          <a:p>
            <a:pPr marL="50800" marR="5080">
              <a:lnSpc>
                <a:spcPts val="2100"/>
              </a:lnSpc>
              <a:spcBef>
                <a:spcPts val="1250"/>
              </a:spcBef>
              <a:tabLst>
                <a:tab pos="812165" algn="l"/>
                <a:tab pos="3905250" algn="l"/>
              </a:tabLst>
            </a:pPr>
            <a:r>
              <a:rPr dirty="0" sz="1850" spc="6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50" spc="80">
                <a:solidFill>
                  <a:srgbClr val="FFFFFF"/>
                </a:solidFill>
                <a:latin typeface="Calibri"/>
                <a:cs typeface="Calibri"/>
              </a:rPr>
              <a:t>Consultation</a:t>
            </a:r>
            <a:r>
              <a:rPr dirty="0" sz="1850" spc="9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7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50" spc="7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 spc="60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dirty="0" sz="1850" spc="4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75">
                <a:solidFill>
                  <a:srgbClr val="FFFFFF"/>
                </a:solidFill>
                <a:latin typeface="Calibri"/>
                <a:cs typeface="Calibri"/>
              </a:rPr>
              <a:t> Regulations: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 </a:t>
            </a:r>
            <a:r>
              <a:rPr dirty="0" sz="1850" spc="114">
                <a:solidFill>
                  <a:srgbClr val="FFFFFF"/>
                </a:solidFill>
                <a:latin typeface="Calibri"/>
                <a:cs typeface="Calibri"/>
              </a:rPr>
              <a:t>Guidelines-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Notification:</a:t>
            </a:r>
            <a:r>
              <a:rPr dirty="0" sz="1850" spc="16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2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FAQs: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644650" y="1862582"/>
          <a:ext cx="16473169" cy="4748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850"/>
                <a:gridCol w="1670685"/>
                <a:gridCol w="2310130"/>
                <a:gridCol w="4209415"/>
                <a:gridCol w="7108190"/>
              </a:tblGrid>
              <a:tr h="1737360"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46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ts val="3105"/>
                        </a:lnSpc>
                      </a:pPr>
                      <a:r>
                        <a:rPr dirty="0" sz="2700" spc="-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2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4305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5730" marR="14604" indent="12700">
                        <a:lnSpc>
                          <a:spcPts val="3229"/>
                        </a:lnSpc>
                        <a:spcBef>
                          <a:spcPts val="100"/>
                        </a:spcBef>
                      </a:pPr>
                      <a:r>
                        <a:rPr dirty="0" sz="27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4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6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r>
                        <a:rPr dirty="0" sz="2700" spc="-1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algn="ctr" marL="311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3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3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3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1002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  <a:tr h="1004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</a:tr>
              <a:tr h="1003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66700"/>
            <a:ext cx="1504950" cy="15144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21175" y="0"/>
            <a:ext cx="1266825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1"/>
            <a:ext cx="18302605" cy="10287000"/>
            <a:chOff x="0" y="-1"/>
            <a:chExt cx="18302605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711551" y="4743084"/>
              <a:ext cx="2576830" cy="2700655"/>
            </a:xfrm>
            <a:custGeom>
              <a:avLst/>
              <a:gdLst/>
              <a:ahLst/>
              <a:cxnLst/>
              <a:rect l="l" t="t" r="r" b="b"/>
              <a:pathLst>
                <a:path w="2576830" h="2700654">
                  <a:moveTo>
                    <a:pt x="2576448" y="0"/>
                  </a:moveTo>
                  <a:lnTo>
                    <a:pt x="0" y="2585958"/>
                  </a:lnTo>
                </a:path>
                <a:path w="2576830" h="2700654">
                  <a:moveTo>
                    <a:pt x="2576448" y="825754"/>
                  </a:moveTo>
                  <a:lnTo>
                    <a:pt x="708786" y="2700385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-1"/>
              <a:ext cx="18288000" cy="10248900"/>
            </a:xfrm>
            <a:custGeom>
              <a:avLst/>
              <a:gdLst/>
              <a:ahLst/>
              <a:cxnLst/>
              <a:rect l="l" t="t" r="r" b="b"/>
              <a:pathLst>
                <a:path w="18288000" h="10248900">
                  <a:moveTo>
                    <a:pt x="18288000" y="0"/>
                  </a:moveTo>
                  <a:lnTo>
                    <a:pt x="0" y="0"/>
                  </a:lnTo>
                  <a:lnTo>
                    <a:pt x="0" y="10248900"/>
                  </a:lnTo>
                  <a:lnTo>
                    <a:pt x="18288000" y="102489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0958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5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610485" y="652796"/>
            <a:ext cx="7505700" cy="1325880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205"/>
              </a:spcBef>
              <a:tabLst>
                <a:tab pos="2472055" algn="l"/>
                <a:tab pos="3425190" algn="l"/>
                <a:tab pos="6092825" algn="l"/>
              </a:tabLst>
            </a:pPr>
            <a:r>
              <a:rPr dirty="0" sz="3350" spc="150" b="1">
                <a:solidFill>
                  <a:srgbClr val="0083E6"/>
                </a:solidFill>
                <a:latin typeface="Calibri"/>
                <a:cs typeface="Calibri"/>
              </a:rPr>
              <a:t>Insolvency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30" b="1">
                <a:solidFill>
                  <a:srgbClr val="0083E6"/>
                </a:solidFill>
                <a:latin typeface="Calibri"/>
                <a:cs typeface="Calibri"/>
              </a:rPr>
              <a:t>and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-10" b="1">
                <a:solidFill>
                  <a:srgbClr val="0083E6"/>
                </a:solidFill>
                <a:latin typeface="Calibri"/>
                <a:cs typeface="Calibri"/>
              </a:rPr>
              <a:t>Bankruptcy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Cod</a:t>
            </a:r>
            <a:r>
              <a:rPr dirty="0" sz="3350" spc="-9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e</a:t>
            </a:r>
            <a:endParaRPr sz="3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50" spc="4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dirty="0" sz="1850" spc="4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 0;</a:t>
            </a:r>
            <a:r>
              <a:rPr dirty="0" sz="18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r>
              <a:rPr dirty="0" sz="1850" spc="43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Direction</a:t>
            </a:r>
            <a:r>
              <a:rPr dirty="0" sz="1850" spc="7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dirty="0" sz="185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4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4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850" spc="85">
                <a:solidFill>
                  <a:srgbClr val="FFFFFF"/>
                </a:solidFill>
                <a:latin typeface="Calibri"/>
                <a:cs typeface="Calibri"/>
              </a:rPr>
              <a:t>Discussion</a:t>
            </a:r>
            <a:r>
              <a:rPr dirty="0" sz="1850" spc="8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 spc="75">
                <a:solidFill>
                  <a:srgbClr val="FFFFFF"/>
                </a:solidFill>
                <a:latin typeface="Calibri"/>
                <a:cs typeface="Calibri"/>
              </a:rPr>
              <a:t>Paper-</a:t>
            </a:r>
            <a:r>
              <a:rPr dirty="0" sz="1850" spc="7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625" y="619125"/>
            <a:ext cx="1514475" cy="1514475"/>
          </a:xfrm>
          <a:prstGeom prst="rect">
            <a:avLst/>
          </a:prstGeom>
        </p:spPr>
      </p:pic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334135" y="2101850"/>
          <a:ext cx="16146780" cy="2474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260"/>
                <a:gridCol w="1637664"/>
                <a:gridCol w="2924810"/>
                <a:gridCol w="4048760"/>
                <a:gridCol w="6382385"/>
              </a:tblGrid>
              <a:tr h="13347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3105"/>
                        </a:lnSpc>
                      </a:pPr>
                      <a:r>
                        <a:rPr dirty="0" sz="2700" spc="-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2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414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5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3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997585" marR="187960" indent="-802005">
                        <a:lnSpc>
                          <a:spcPts val="3229"/>
                        </a:lnSpc>
                        <a:spcBef>
                          <a:spcPts val="330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2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14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spc="-4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1594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2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26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1139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/>
          <p:nvPr/>
        </p:nvSpPr>
        <p:spPr>
          <a:xfrm>
            <a:off x="1295400" y="6734175"/>
            <a:ext cx="16030575" cy="485775"/>
          </a:xfrm>
          <a:custGeom>
            <a:avLst/>
            <a:gdLst/>
            <a:ahLst/>
            <a:cxnLst/>
            <a:rect l="l" t="t" r="r" b="b"/>
            <a:pathLst>
              <a:path w="16030575" h="485775">
                <a:moveTo>
                  <a:pt x="16030575" y="0"/>
                </a:moveTo>
                <a:lnTo>
                  <a:pt x="0" y="0"/>
                </a:lnTo>
                <a:lnTo>
                  <a:pt x="0" y="485520"/>
                </a:lnTo>
                <a:lnTo>
                  <a:pt x="16030575" y="485520"/>
                </a:lnTo>
                <a:lnTo>
                  <a:pt x="16030575" y="0"/>
                </a:lnTo>
                <a:close/>
              </a:path>
            </a:pathLst>
          </a:custGeom>
          <a:solidFill>
            <a:srgbClr val="042C5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1267078" y="6705981"/>
          <a:ext cx="16123285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34385"/>
              </a:tblGrid>
              <a:tr h="502920">
                <a:tc>
                  <a:txBody>
                    <a:bodyPr/>
                    <a:lstStyle/>
                    <a:p>
                      <a:pPr algn="ctr" marL="5016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4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IBC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679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 algn="ctr" marL="7937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250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87850" y="0"/>
            <a:ext cx="120015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08250" y="148053"/>
            <a:ext cx="7754620" cy="98679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2169160" algn="l"/>
                <a:tab pos="4786630" algn="l"/>
              </a:tabLst>
            </a:pPr>
            <a:r>
              <a:rPr dirty="0" sz="3350" spc="125" b="1">
                <a:solidFill>
                  <a:srgbClr val="0083E6"/>
                </a:solidFill>
                <a:latin typeface="Calibri"/>
                <a:cs typeface="Calibri"/>
              </a:rPr>
              <a:t>Alternate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155" b="1">
                <a:solidFill>
                  <a:srgbClr val="0083E6"/>
                </a:solidFill>
                <a:latin typeface="Calibri"/>
                <a:cs typeface="Calibri"/>
              </a:rPr>
              <a:t>Investment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70" b="1">
                <a:solidFill>
                  <a:srgbClr val="0083E6"/>
                </a:solidFill>
                <a:latin typeface="Calibri"/>
                <a:cs typeface="Calibri"/>
              </a:rPr>
              <a:t>Funds</a:t>
            </a:r>
            <a:endParaRPr sz="3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709545" algn="l"/>
              </a:tabLst>
            </a:pP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4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Reg</a:t>
            </a:r>
            <a:r>
              <a:rPr dirty="0" sz="18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ulation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dirty="0" sz="18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r>
              <a:rPr dirty="0" sz="1850" spc="43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Circular</a:t>
            </a:r>
            <a:r>
              <a:rPr dirty="0" sz="1850" spc="4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85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Gazette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dirty="0" sz="1850" spc="4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5" y="123825"/>
            <a:ext cx="1514475" cy="15144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49750" y="9525"/>
            <a:ext cx="1238250" cy="1476375"/>
          </a:xfrm>
          <a:prstGeom prst="rect">
            <a:avLst/>
          </a:prstGeom>
        </p:spPr>
      </p:pic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187843" y="4701285"/>
          <a:ext cx="16064230" cy="1248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5330"/>
              </a:tblGrid>
              <a:tr h="502284">
                <a:tc>
                  <a:txBody>
                    <a:bodyPr/>
                    <a:lstStyle/>
                    <a:p>
                      <a:pPr algn="ctr" marL="488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4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AIF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ctr" marL="17208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238885" y="1850135"/>
          <a:ext cx="16146780" cy="2472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260"/>
                <a:gridCol w="1637664"/>
                <a:gridCol w="2924810"/>
                <a:gridCol w="4048760"/>
                <a:gridCol w="6382385"/>
              </a:tblGrid>
              <a:tr h="133540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3105"/>
                        </a:lnSpc>
                      </a:pPr>
                      <a:r>
                        <a:rPr dirty="0" sz="2700" spc="-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2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414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6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Rules/</a:t>
                      </a:r>
                      <a:r>
                        <a:rPr dirty="0" sz="2700" spc="-2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997585" marR="187325" indent="-802005">
                        <a:lnSpc>
                          <a:spcPts val="3229"/>
                        </a:lnSpc>
                        <a:spcBef>
                          <a:spcPts val="330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2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14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spc="-4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60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2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63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1137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2772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10485" y="602408"/>
            <a:ext cx="6677659" cy="1120140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610"/>
              </a:spcBef>
            </a:pPr>
            <a:r>
              <a:rPr dirty="0" sz="3350" spc="110" b="1">
                <a:solidFill>
                  <a:srgbClr val="0083E6"/>
                </a:solidFill>
                <a:latin typeface="Calibri"/>
                <a:cs typeface="Calibri"/>
              </a:rPr>
              <a:t>Others</a:t>
            </a:r>
            <a:r>
              <a:rPr dirty="0" sz="3350" spc="434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during</a:t>
            </a:r>
            <a:r>
              <a:rPr dirty="0" sz="3350" spc="-3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the</a:t>
            </a:r>
            <a:r>
              <a:rPr dirty="0" sz="3350" spc="20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60" b="1">
                <a:solidFill>
                  <a:srgbClr val="0083E6"/>
                </a:solidFill>
                <a:latin typeface="Calibri"/>
                <a:cs typeface="Calibri"/>
              </a:rPr>
              <a:t>week</a:t>
            </a:r>
            <a:endParaRPr sz="3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ICAI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95">
                <a:solidFill>
                  <a:srgbClr val="FFFFFF"/>
                </a:solidFill>
                <a:latin typeface="Calibri"/>
                <a:cs typeface="Calibri"/>
              </a:rPr>
              <a:t>DGFT</a:t>
            </a: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 0;</a:t>
            </a:r>
            <a:r>
              <a:rPr dirty="0" sz="18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NC </a:t>
            </a:r>
            <a:r>
              <a:rPr dirty="0" sz="1850" spc="60">
                <a:solidFill>
                  <a:srgbClr val="FFFFFF"/>
                </a:solidFill>
                <a:latin typeface="Calibri"/>
                <a:cs typeface="Calibri"/>
              </a:rPr>
              <a:t>LT</a:t>
            </a:r>
            <a:r>
              <a:rPr dirty="0" sz="1850" spc="3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ICSI</a:t>
            </a:r>
            <a:r>
              <a:rPr dirty="0" sz="1850" spc="7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850" spc="-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850" spc="-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850" spc="2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0;BSE</a:t>
            </a:r>
            <a:r>
              <a:rPr dirty="0" sz="1850" spc="-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75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-26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3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Others</a:t>
            </a: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5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5" y="619125"/>
            <a:ext cx="1514475" cy="1514475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330960" y="5642483"/>
          <a:ext cx="16105505" cy="1247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16605"/>
              </a:tblGrid>
              <a:tr h="501650">
                <a:tc>
                  <a:txBody>
                    <a:bodyPr/>
                    <a:lstStyle/>
                    <a:p>
                      <a:pPr algn="ctr" marL="571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700" spc="-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Others</a:t>
                      </a:r>
                      <a:r>
                        <a:rPr dirty="0" sz="2700" spc="-3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ctr" marL="7937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64025" y="0"/>
            <a:ext cx="1323975" cy="1209675"/>
          </a:xfrm>
          <a:prstGeom prst="rect">
            <a:avLst/>
          </a:prstGeom>
        </p:spPr>
      </p:pic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293367" y="2278760"/>
          <a:ext cx="16146780" cy="2472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260"/>
                <a:gridCol w="1637664"/>
                <a:gridCol w="2924810"/>
                <a:gridCol w="4048760"/>
                <a:gridCol w="6382385"/>
              </a:tblGrid>
              <a:tr h="133540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459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ts val="3110"/>
                        </a:lnSpc>
                      </a:pPr>
                      <a:r>
                        <a:rPr dirty="0" sz="2700" spc="-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2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414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700" spc="-6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Rules/</a:t>
                      </a:r>
                      <a:r>
                        <a:rPr dirty="0" sz="2700" spc="-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998855" marR="187325" indent="-802005">
                        <a:lnSpc>
                          <a:spcPts val="3229"/>
                        </a:lnSpc>
                        <a:spcBef>
                          <a:spcPts val="330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2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14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spc="-3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0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2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2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C5F"/>
                    </a:solidFill>
                  </a:tcPr>
                </a:tc>
              </a:tr>
              <a:tr h="1137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00600" y="4019041"/>
            <a:ext cx="9267825" cy="18561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0">
                <a:latin typeface="Tahoma"/>
                <a:cs typeface="Tahoma"/>
              </a:rPr>
              <a:t>THANK</a:t>
            </a:r>
            <a:r>
              <a:rPr dirty="0" sz="12000" spc="735">
                <a:latin typeface="Tahoma"/>
                <a:cs typeface="Tahoma"/>
              </a:rPr>
              <a:t> </a:t>
            </a:r>
            <a:r>
              <a:rPr dirty="0" sz="12000" spc="-25">
                <a:latin typeface="Tahoma"/>
                <a:cs typeface="Tahoma"/>
              </a:rPr>
              <a:t>YOU</a:t>
            </a:r>
            <a:endParaRPr sz="12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572493" y="6816090"/>
            <a:ext cx="3368040" cy="57658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</a:pPr>
            <a:r>
              <a:rPr dirty="0" u="heavy" sz="1800" spc="-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bhuvana.r@akshayamcorporate.com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heavy" sz="1800" spc="-2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Jayanth.v@akshayamcorporate.com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00600" y="6950138"/>
            <a:ext cx="5193030" cy="5765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  <a:tabLst>
                <a:tab pos="1102995" algn="l"/>
                <a:tab pos="1696720" algn="l"/>
                <a:tab pos="2380615" algn="l"/>
                <a:tab pos="4105275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Flat</a:t>
            </a:r>
            <a:r>
              <a:rPr dirty="0" sz="1800" spc="4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No.7,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Door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No.10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Madhans,</a:t>
            </a:r>
            <a:r>
              <a:rPr dirty="0" sz="1800" spc="3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Canal</a:t>
            </a:r>
            <a:r>
              <a:rPr dirty="0" sz="1800" spc="4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Bank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Road,</a:t>
            </a:r>
            <a:r>
              <a:rPr dirty="0"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Mandavelipakkam,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Chennai</a:t>
            </a:r>
            <a:r>
              <a:rPr dirty="0" sz="18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600028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53400" y="1590675"/>
            <a:ext cx="253365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2026-02-24T04:18:51Z</dcterms:created>
  <dcterms:modified xsi:type="dcterms:W3CDTF">2026-02-24T04:18:51Z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2026-02-23T00:00:00Z</vt:filetime>
  </property>
  <property fmtid="{D5CDD505-2E9C-101B-9397-08002B2CF9AE}" pid="3" name="LastSaved">
    <vt:filetime>2026-02-24T00:00:00Z</vt:filetime>
  </property>
  <property fmtid="{D5CDD505-2E9C-101B-9397-08002B2CF9AE}" pid="4" name="MSIP_Label_f5951936-1747-427c-8073-75a0925e3956_ContentBits">
    <vt:lpwstr>2</vt:lpwstr>
  </property>
  <property fmtid="{D5CDD505-2E9C-101B-9397-08002B2CF9AE}" pid="5" name="MSIP_Label_f5951936-1747-427c-8073-75a0925e3956_Enabled">
    <vt:lpwstr>true</vt:lpwstr>
  </property>
  <property fmtid="{D5CDD505-2E9C-101B-9397-08002B2CF9AE}" pid="6" name="MSIP_Label_f5951936-1747-427c-8073-75a0925e3956_Method">
    <vt:lpwstr>Standard</vt:lpwstr>
  </property>
  <property fmtid="{D5CDD505-2E9C-101B-9397-08002B2CF9AE}" pid="7" name="MSIP_Label_f5951936-1747-427c-8073-75a0925e3956_SiteId">
    <vt:lpwstr>42bee3df-9853-4f9a-b529-33f3156060a0</vt:lpwstr>
  </property>
</Properties>
</file>